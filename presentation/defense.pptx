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10"/>
  </p:notesMasterIdLst>
  <p:sldIdLst>
    <p:sldId id="258" r:id="rId2"/>
    <p:sldId id="261" r:id="rId3"/>
    <p:sldId id="263" r:id="rId4"/>
    <p:sldId id="266" r:id="rId5"/>
    <p:sldId id="269" r:id="rId6"/>
    <p:sldId id="270" r:id="rId7"/>
  </p:sldIdLst>
  <p:sldSz cx="9144000" cy="5143500" type="screen16x9"/>
  <p:notesSz cx="6858000" cy="9144000"/>
  <p:embeddedFontLst>
    <p:embeddedFont>
      <p:font typeface="Inter" panose="02000503000000020004" pitchFamily="2" charset="0"/>
      <p:regular r:id="rId11"/>
      <p:bold r:id="rId12"/>
      <p:italic r:id="rId13"/>
      <p:boldItalic r:id="rId14"/>
    </p:embeddedFont>
    <p:embeddedFont>
      <p:font typeface="Inter Medium" panose="02000503000000020004" pitchFamily="2" charset="0"/>
      <p:regular r:id="rId15"/>
      <p:bold r:id="rId16"/>
      <p:italic r:id="rId17"/>
      <p:boldItalic r:id="rId18"/>
    </p:embeddedFont>
    <p:embeddedFont>
      <p:font typeface="MTS Text" panose="020B0306020102020303" pitchFamily="34" charset="0"/>
      <p:regular r:id="rId19"/>
      <p:bold r:id="rId20"/>
    </p:embeddedFont>
    <p:embeddedFont>
      <p:font typeface="MTS Text Medium" panose="020B0306020102020303" pitchFamily="34" charset="0"/>
      <p:regular r:id="rId21"/>
    </p:embeddedFont>
    <p:embeddedFont>
      <p:font typeface="MTS Wide" panose="020B0306020102020303" pitchFamily="34" charset="0"/>
      <p:regular r:id="rId22"/>
      <p:bold r:id="rId23"/>
    </p:embeddedFont>
    <p:embeddedFont>
      <p:font typeface="MTS Wide Medium" panose="020B0306020102020303" pitchFamily="34" charset="0"/>
      <p:regular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00" userDrawn="1">
          <p15:clr>
            <a:srgbClr val="747775"/>
          </p15:clr>
        </p15:guide>
        <p15:guide id="2" pos="113">
          <p15:clr>
            <a:srgbClr val="747775"/>
          </p15:clr>
        </p15:guide>
        <p15:guide id="3" orient="horz" pos="3127">
          <p15:clr>
            <a:srgbClr val="747775"/>
          </p15:clr>
        </p15:guide>
        <p15:guide id="4" pos="5647">
          <p15:clr>
            <a:srgbClr val="747775"/>
          </p15:clr>
        </p15:guide>
        <p15:guide id="5" pos="2880">
          <p15:clr>
            <a:srgbClr val="747775"/>
          </p15:clr>
        </p15:guide>
        <p15:guide id="6" pos="2852">
          <p15:clr>
            <a:srgbClr val="747775"/>
          </p15:clr>
        </p15:guide>
        <p15:guide id="7" pos="2908">
          <p15:clr>
            <a:srgbClr val="747775"/>
          </p15:clr>
        </p15:guide>
        <p15:guide id="8" orient="horz" pos="1251">
          <p15:clr>
            <a:srgbClr val="747775"/>
          </p15:clr>
        </p15:guide>
        <p15:guide id="9" pos="2014">
          <p15:clr>
            <a:srgbClr val="747775"/>
          </p15:clr>
        </p15:guide>
        <p15:guide id="10" pos="3903">
          <p15:clr>
            <a:srgbClr val="747775"/>
          </p15:clr>
        </p15:guide>
        <p15:guide id="11" orient="horz" pos="1009">
          <p15:clr>
            <a:srgbClr val="747775"/>
          </p15:clr>
        </p15:guide>
        <p15:guide id="13" orient="horz" pos="452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08B8B5D-C623-46D9-ADCC-D26623CE91F4}">
  <a:tblStyle styleId="{408B8B5D-C623-46D9-ADCC-D26623CE91F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648"/>
  </p:normalViewPr>
  <p:slideViewPr>
    <p:cSldViewPr snapToGrid="0">
      <p:cViewPr varScale="1">
        <p:scale>
          <a:sx n="156" d="100"/>
          <a:sy n="156" d="100"/>
        </p:scale>
        <p:origin x="544" y="168"/>
      </p:cViewPr>
      <p:guideLst>
        <p:guide orient="horz" pos="100"/>
        <p:guide pos="113"/>
        <p:guide orient="horz" pos="3127"/>
        <p:guide pos="5647"/>
        <p:guide pos="2880"/>
        <p:guide pos="2852"/>
        <p:guide pos="2908"/>
        <p:guide orient="horz" pos="1251"/>
        <p:guide pos="2014"/>
        <p:guide pos="3903"/>
        <p:guide orient="horz" pos="1009"/>
        <p:guide orient="horz" pos="4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Relationship Id="rId19" Type="http://schemas.openxmlformats.org/officeDocument/2006/relationships/font" Target="fonts/font9.fntdata"/><Relationship Id="rId20" Type="http://schemas.openxmlformats.org/officeDocument/2006/relationships/font" Target="fonts/font10.fntdata"/><Relationship Id="rId21" Type="http://schemas.openxmlformats.org/officeDocument/2006/relationships/font" Target="fonts/font11.fntdata"/><Relationship Id="rId22" Type="http://schemas.openxmlformats.org/officeDocument/2006/relationships/font" Target="fonts/font12.fntdata"/><Relationship Id="rId23" Type="http://schemas.openxmlformats.org/officeDocument/2006/relationships/font" Target="fonts/font13.fntdata"/><Relationship Id="rId24" Type="http://schemas.openxmlformats.org/officeDocument/2006/relationships/font" Target="fonts/font14.fntdata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h1322d1fa67168e44_1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h1322d1fa67168e44_1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Меня зовут Павел Абалаков. Я студент третьего курса УрТИСИ, изучаю инфокоммуникационные технологии и системы связи. В командах Payment OCR и Magistral Dispatcher MAX выступал как product manager: распределял задачи и выстраивал коммуникацию. В Payment OCR также отвечал за архитектуру. Развиваюсь в product management и управлении проектами. В этом кейсе я проектирую радиосеть первого этажа ТРК «Эльбрус»: LTE в трёх диапазонах и DCS-1800.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1322d1fa67168e44_26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h1322d1fa67168e44_26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В онлайн-модели одновременно активными считались 80 процентов прогнозных пользователей. Новые вводные задают две последовательные доли: RRC Connected и наличие данных в буфере. Из 360 прогнозных пользователей получаются 126 подключений и 12,6 пользователя с данными. Округляю вверх до 13: необходимы 104 мегабита в секунду. При принятой эффективности три несущие обслуживают шесть, четыре и три устройства без агрегации. Выбран один общий LTE-сектор. Последовательность числа секторов: 25 в онлайн-этапе, два при новых долях и прежнем коэффициенте, один при общем пуле с коэффициентом единица. Резерва для четырнадцатого устройства без CA нет.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h1322d1fa67168e44_26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h1322d1fa67168e44_26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На плане размещены 32 двухпортовые антенны In06. Четыре группы распределяют сигнал одного LTE-пула на каждом диапазоне. До двух портов каждой антенны идут независимые RF-деревья M1 и M2. На каждой ветви три гибрида PC221 распределяют диапазоны на четыре направления. Триплексеры объединяют B3, B1 и B7 в зональный фидер. В группе две антенны подключены напрямую, две через двухвыходный делитель и четыре через четырёхвыходный. Доли мощности — четверть, восьмая и шестнадцатая от зонального входа до дополнительных потерь. Головной узел предусмотрен в проектной зоне 104.2. Высоты антенны и терминала приняты семь и полтора метра. GSM использует отдельный делитель и общий выход двух TRX как условие подключения БС.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h506ea8204446350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h506ea8204446350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RF-бюджет и карты учитывают кабели, высоты и пересечения стен. Пилот 23 дБм принят как сумма CRS-поднесущих одного порта, модель P1. На B7 при n=3 покрыто 96,37 процента площади. Для SINR и RSRQ заданы NF семь децибел, загрузка 80 процентов и EPRE данных на три децибела ниже CRS. В L2 внешняя помеха равна минус 115 дБм на 15 килогерц. На B7 SINR не ниже 17 дБ достигается на 96,75 процента, RSRQ выше минус 12 — на 97,59 процента. При равной EPRE критерий RSRQ не проходит. DCS при BCCH 40 и помехе минус 70 дБм даёт C/I выше 20 на 96,53 процента. Это сценарные условия, а не параметры измеренной сети. P2 сохраняет непроходящий RSRP.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h1322d1fa67168e44_2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h1322d1fa67168e44_2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Количество оборудования получено из той же схемы и трасс. Предусмотрены 32 антенны, шесть гибридов, восемь триплексеров, девять двухвыходных и шестнадцать четырёхвыходных делителей. Установлено 1404 метра коаксиала. С десятипроцентным резервом нужны 1366 метров семь восьмых и 179 метров одна вторая. Для соединений учтены 168 разъёмов и 113 джамперов: 101 рабочий и 12 резервных. Свободные входы заканчиваются нагрузками 50 Ом. Их модели и допустимые мощности выбираются при комплектации. Огнестойкое безгалогеновое исполнение кабелей является условием поставки.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h1322d1fa67168e44_26_3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h1322d1fa67168e44_26_3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t>Результат опирается на три решения. Последовательные доли RRC и buffer определяют спрос и один общий LTE-сектор. 32 антенны и две MIMO-ветви обеспечивают распределение сигнала по этажу. Схема два плюс два плюс четыре задаёт разные доли мощности внутри групп. Расчётные данные согласованы между PDF, схемами и ведомостью оборудования. Покрытие относится к модели P1, качество рассчитано при заданных помехах и мощности данных. Отдельной проверки требуют UL и параметры поставочных исполнений. Архитектура пассивная: управляемые удалённые модули в её состав не входят.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ы с цифрами 14">
  <p:cSld name="Слайды с цифрами 14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4616258" y="1032122"/>
            <a:ext cx="4048800" cy="1857300"/>
          </a:xfrm>
          <a:prstGeom prst="roundRect">
            <a:avLst>
              <a:gd name="adj" fmla="val 3606"/>
            </a:avLst>
          </a:prstGeom>
          <a:solidFill>
            <a:srgbClr val="DEF6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27861" y="431253"/>
            <a:ext cx="35457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>
            <a:lvl1pPr marL="457200" lvl="0" indent="-228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body" idx="2"/>
          </p:nvPr>
        </p:nvSpPr>
        <p:spPr>
          <a:xfrm>
            <a:off x="577384" y="1447178"/>
            <a:ext cx="3846300" cy="12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9000" b="1" i="0">
                <a:solidFill>
                  <a:srgbClr val="0062D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9000" b="1" i="0">
                <a:solidFill>
                  <a:srgbClr val="0062D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4622373" y="2989065"/>
            <a:ext cx="4048800" cy="1857300"/>
          </a:xfrm>
          <a:prstGeom prst="roundRect">
            <a:avLst>
              <a:gd name="adj" fmla="val 3606"/>
            </a:avLst>
          </a:prstGeom>
          <a:solidFill>
            <a:srgbClr val="DEF6FF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724220" y="2383605"/>
            <a:ext cx="35457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spAutoFit/>
          </a:bodyPr>
          <a:lstStyle>
            <a:lvl1pPr marL="457200" lvl="0" indent="-228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9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4"/>
          </p:nvPr>
        </p:nvSpPr>
        <p:spPr>
          <a:xfrm>
            <a:off x="573742" y="3399530"/>
            <a:ext cx="3846300" cy="12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9000" b="1" i="0">
                <a:solidFill>
                  <a:srgbClr val="0062D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9000" b="1" i="0">
                <a:solidFill>
                  <a:srgbClr val="0062D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408182" y="1036713"/>
            <a:ext cx="4048800" cy="3809700"/>
          </a:xfrm>
          <a:prstGeom prst="roundRect">
            <a:avLst>
              <a:gd name="adj" fmla="val 3606"/>
            </a:avLst>
          </a:prstGeom>
          <a:solidFill>
            <a:srgbClr val="0062D2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5"/>
          </p:nvPr>
        </p:nvSpPr>
        <p:spPr>
          <a:xfrm>
            <a:off x="4712849" y="3399530"/>
            <a:ext cx="3846300" cy="125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90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9000" b="1" i="0">
                <a:solidFill>
                  <a:srgbClr val="0062D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6"/>
          </p:nvPr>
        </p:nvSpPr>
        <p:spPr>
          <a:xfrm>
            <a:off x="4863326" y="1115761"/>
            <a:ext cx="3545700" cy="10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>
            <a:lvl1pPr marL="457200" lvl="0" indent="-228600"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SzPts val="2100"/>
              <a:buNone/>
              <a:defRPr sz="9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○"/>
              <a:defRPr/>
            </a:lvl2pPr>
            <a:lvl3pPr marL="1371600" lvl="2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■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715210" y="476523"/>
            <a:ext cx="964146" cy="1028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>
          <p15:clr>
            <a:srgbClr val="FBAE40"/>
          </p15:clr>
        </p15:guide>
        <p15:guide id="2" pos="57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0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012" scaled="0"/>
        </a:gra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7" title="Заголовок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000" y="180000"/>
            <a:ext cx="3035926" cy="1260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7" title="ьеы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39600" y="0"/>
            <a:ext cx="904399" cy="904399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TextBox 95"/>
          <p:cNvSpPr txBox="1"/>
          <p:nvPr/>
        </p:nvSpPr>
        <p:spPr>
          <a:xfrm>
            <a:off x="8119872" y="4956048"/>
            <a:ext cx="795528" cy="1188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826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66666"/>
                </a:solidFill>
                <a:latin typeface="MTS Text"/>
              </a:defRPr>
            </a:pPr>
            <a:r>
              <a:t>1 / 6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228600" y="1627632"/>
            <a:ext cx="6080760" cy="10058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  <a:defRPr sz="2900">
                <a:solidFill>
                  <a:srgbClr val="414141"/>
                </a:solidFill>
                <a:latin typeface="MTS Wide Medium"/>
              </a:defRPr>
            </a:pPr>
            <a:r>
              <a:t>Радиосеть первого этажа</a:t>
            </a:r>
          </a:p>
          <a:p>
            <a:pPr algn="l">
              <a:lnSpc>
                <a:spcPts val="3422"/>
              </a:lnSpc>
              <a:spcBef>
                <a:spcPts val="0"/>
              </a:spcBef>
              <a:spcAft>
                <a:spcPts val="0"/>
              </a:spcAft>
              <a:defRPr sz="2900">
                <a:solidFill>
                  <a:srgbClr val="414141"/>
                </a:solidFill>
                <a:latin typeface="MTS Wide Medium"/>
              </a:defRPr>
            </a:pPr>
            <a:r>
              <a:t>ТРК «Эльбрус»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228600" y="2798064"/>
            <a:ext cx="4160520" cy="4206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FF0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65760" y="2880360"/>
            <a:ext cx="3886200" cy="27432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124"/>
              </a:lnSpc>
              <a:spcBef>
                <a:spcPts val="0"/>
              </a:spcBef>
              <a:spcAft>
                <a:spcPts val="0"/>
              </a:spcAft>
              <a:defRPr sz="1800">
                <a:solidFill>
                  <a:srgbClr val="FF0032"/>
                </a:solidFill>
                <a:latin typeface="MTS Wide Medium"/>
              </a:defRPr>
            </a:pPr>
            <a:r>
              <a:t>Павел Абалаков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228600" y="3447288"/>
            <a:ext cx="5806440" cy="7772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414141"/>
                </a:solidFill>
                <a:latin typeface="MTS Text"/>
              </a:defRPr>
            </a:pPr>
            <a:r>
              <a:t>УрТИСИ · III курс · 11.03.02</a:t>
            </a:r>
          </a:p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414141"/>
                </a:solidFill>
                <a:latin typeface="MTS Text"/>
              </a:defRPr>
            </a:pPr>
            <a:r>
              <a:t>Инфокоммуникационные технологии</a:t>
            </a:r>
          </a:p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414141"/>
                </a:solidFill>
                <a:latin typeface="MTS Text"/>
              </a:defRPr>
            </a:pPr>
            <a:r>
              <a:t>и системы связи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228600" y="4315968"/>
            <a:ext cx="5760720" cy="5760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Product manager в Payment OCR и Magistral Dispatcher MAX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Архитектура (Payment OCR), задачи и коммуникация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Интересы: product management и управление проектами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6446520" y="1508760"/>
            <a:ext cx="2377440" cy="31546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3" name="Picture 102" descr="portrait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1988819"/>
            <a:ext cx="2194560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700" scaled="0"/>
        </a:gra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Google Shape;150;p20" title="ьеы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37875" y="0"/>
            <a:ext cx="606125" cy="6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Rounded Rectangle 150"/>
          <p:cNvSpPr/>
          <p:nvPr/>
        </p:nvSpPr>
        <p:spPr>
          <a:xfrm>
            <a:off x="182880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182880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Автор</a:t>
            </a:r>
          </a:p>
        </p:txBody>
      </p:sp>
      <p:sp>
        <p:nvSpPr>
          <p:cNvPr id="153" name="Rounded Rectangle 152"/>
          <p:cNvSpPr/>
          <p:nvPr/>
        </p:nvSpPr>
        <p:spPr>
          <a:xfrm>
            <a:off x="1490472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0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490472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FFFFFF"/>
                </a:solidFill>
                <a:latin typeface="MTS Text"/>
              </a:defRPr>
            </a:pPr>
            <a:r>
              <a:t>Ёмкость</a:t>
            </a:r>
          </a:p>
        </p:txBody>
      </p:sp>
      <p:sp>
        <p:nvSpPr>
          <p:cNvPr id="155" name="Rounded Rectangle 154"/>
          <p:cNvSpPr/>
          <p:nvPr/>
        </p:nvSpPr>
        <p:spPr>
          <a:xfrm>
            <a:off x="2798064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2798064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Схема DAS</a:t>
            </a:r>
          </a:p>
        </p:txBody>
      </p:sp>
      <p:sp>
        <p:nvSpPr>
          <p:cNvPr id="157" name="Rounded Rectangle 156"/>
          <p:cNvSpPr/>
          <p:nvPr/>
        </p:nvSpPr>
        <p:spPr>
          <a:xfrm>
            <a:off x="4105656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4105656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Покрытие</a:t>
            </a:r>
          </a:p>
        </p:txBody>
      </p:sp>
      <p:sp>
        <p:nvSpPr>
          <p:cNvPr id="159" name="Rounded Rectangle 158"/>
          <p:cNvSpPr/>
          <p:nvPr/>
        </p:nvSpPr>
        <p:spPr>
          <a:xfrm>
            <a:off x="5413248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5413248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Оборудование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720840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6720840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Итоги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182880" y="713232"/>
            <a:ext cx="850392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304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414141"/>
                </a:solidFill>
                <a:latin typeface="MTS Wide Medium"/>
              </a:defRPr>
            </a:pPr>
            <a:r>
              <a:t>Новые доли RRC и buffer:</a:t>
            </a:r>
          </a:p>
          <a:p>
            <a:pPr algn="l">
              <a:lnSpc>
                <a:spcPts val="3304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414141"/>
                </a:solidFill>
                <a:latin typeface="MTS Wide Medium"/>
              </a:defRPr>
            </a:pPr>
            <a:r>
              <a:t>13 пользователей вместо 288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8119872" y="4956048"/>
            <a:ext cx="795528" cy="1188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826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66666"/>
                </a:solidFill>
                <a:latin typeface="MTS Text"/>
              </a:defRPr>
            </a:pPr>
            <a:r>
              <a:t>2 / 6</a:t>
            </a:r>
          </a:p>
        </p:txBody>
      </p:sp>
      <p:sp>
        <p:nvSpPr>
          <p:cNvPr id="165" name="Rounded Rectangle 164"/>
          <p:cNvSpPr/>
          <p:nvPr/>
        </p:nvSpPr>
        <p:spPr>
          <a:xfrm>
            <a:off x="182880" y="1883664"/>
            <a:ext cx="2871216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338328" y="2011680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F0032"/>
                </a:solidFill>
                <a:latin typeface="MTS Text"/>
              </a:defRPr>
            </a:pPr>
            <a:r>
              <a:t>ОДНОВРЕМЕННАЯ НАГРУЗКА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338328" y="2359152"/>
            <a:ext cx="25603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14141"/>
                </a:solidFill>
                <a:latin typeface="MTS Wide Medium"/>
              </a:defRPr>
            </a:pPr>
            <a:r>
              <a:t>13 UE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338328" y="2816352"/>
            <a:ext cx="2560320" cy="3474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6 + 4 + 3 по несущим</a:t>
            </a:r>
          </a:p>
        </p:txBody>
      </p:sp>
      <p:sp>
        <p:nvSpPr>
          <p:cNvPr id="169" name="Rounded Rectangle 168"/>
          <p:cNvSpPr/>
          <p:nvPr/>
        </p:nvSpPr>
        <p:spPr>
          <a:xfrm>
            <a:off x="3136392" y="1883664"/>
            <a:ext cx="2871216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3291840" y="2011680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F0032"/>
                </a:solidFill>
                <a:latin typeface="MTS Text"/>
              </a:defRPr>
            </a:pPr>
            <a:r>
              <a:t>ПОЛЕЗНЫЙ DOWNLINK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291840" y="2359152"/>
            <a:ext cx="25603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14141"/>
                </a:solidFill>
                <a:latin typeface="MTS Wide Medium"/>
              </a:defRPr>
            </a:pPr>
            <a:r>
              <a:t>104 Мбит/с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3291840" y="2816352"/>
            <a:ext cx="2560320" cy="3474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13 устройств по 8 Мбит/с</a:t>
            </a:r>
          </a:p>
        </p:txBody>
      </p:sp>
      <p:sp>
        <p:nvSpPr>
          <p:cNvPr id="173" name="Rounded Rectangle 172"/>
          <p:cNvSpPr/>
          <p:nvPr/>
        </p:nvSpPr>
        <p:spPr>
          <a:xfrm>
            <a:off x="6089904" y="1883664"/>
            <a:ext cx="2871216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6245352" y="2011680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F0032"/>
                </a:solidFill>
                <a:latin typeface="MTS Text"/>
              </a:defRPr>
            </a:pPr>
            <a:r>
              <a:t>ОБЩАЯ ЁМКОСТЬ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245352" y="2359152"/>
            <a:ext cx="25603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14141"/>
                </a:solidFill>
                <a:latin typeface="MTS Wide Medium"/>
              </a:defRPr>
            </a:pPr>
            <a:r>
              <a:t>1 LTE-сектор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245352" y="2816352"/>
            <a:ext cx="2560320" cy="3474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Три несущие B3 / B1 / B7</a:t>
            </a:r>
          </a:p>
        </p:txBody>
      </p:sp>
      <p:sp>
        <p:nvSpPr>
          <p:cNvPr id="177" name="Rounded Rectangle 176"/>
          <p:cNvSpPr/>
          <p:nvPr/>
        </p:nvSpPr>
        <p:spPr>
          <a:xfrm>
            <a:off x="182880" y="3383280"/>
            <a:ext cx="4709160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ounded Rectangle 177"/>
          <p:cNvSpPr/>
          <p:nvPr/>
        </p:nvSpPr>
        <p:spPr>
          <a:xfrm>
            <a:off x="5029200" y="3383280"/>
            <a:ext cx="3931920" cy="135331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TextBox 178"/>
          <p:cNvSpPr txBox="1"/>
          <p:nvPr/>
        </p:nvSpPr>
        <p:spPr>
          <a:xfrm>
            <a:off x="347472" y="3566160"/>
            <a:ext cx="4389120" cy="3474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888"/>
              </a:lnSpc>
              <a:spcBef>
                <a:spcPts val="0"/>
              </a:spcBef>
              <a:spcAft>
                <a:spcPts val="0"/>
              </a:spcAft>
              <a:defRPr sz="1600">
                <a:solidFill>
                  <a:srgbClr val="414141"/>
                </a:solidFill>
                <a:latin typeface="MTS Wide Medium"/>
              </a:defRPr>
            </a:pPr>
            <a:r>
              <a:t>360 × 35% × 10% = 12,6 → 13 UE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347472" y="4069080"/>
            <a:ext cx="4389120" cy="52120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defRPr sz="1180">
                <a:solidFill>
                  <a:srgbClr val="414141"/>
                </a:solidFill>
                <a:latin typeface="MTS Text"/>
              </a:defRPr>
            </a:pPr>
            <a:r>
              <a:t>Секторы: 25 → 2 (k=1,10) → 1 (k(1)=1)</a:t>
            </a:r>
          </a:p>
          <a:p>
            <a:pPr algn="l">
              <a:lnSpc>
                <a:spcPts val="1392"/>
              </a:lnSpc>
              <a:spcBef>
                <a:spcPts val="0"/>
              </a:spcBef>
              <a:spcAft>
                <a:spcPts val="0"/>
              </a:spcAft>
              <a:defRPr sz="1180">
                <a:solidFill>
                  <a:srgbClr val="414141"/>
                </a:solidFill>
                <a:latin typeface="MTS Text"/>
              </a:defRPr>
            </a:pPr>
            <a:r>
              <a:t>η=3,1505922; u=0,8.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5212080" y="3557016"/>
            <a:ext cx="356616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66666"/>
                </a:solidFill>
                <a:latin typeface="MTS Text"/>
              </a:defRPr>
            </a:pPr>
            <a:r>
              <a:t>Полезная ёмкость трёх несущих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5212080" y="3877056"/>
            <a:ext cx="3566160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defRPr sz="1140">
                <a:solidFill>
                  <a:srgbClr val="414141"/>
                </a:solidFill>
                <a:latin typeface="MTS Text"/>
              </a:defRPr>
            </a:pPr>
            <a:r>
              <a:t>B3 · 20 МГц · 50,41 Мбит/с · 6 UE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5212080" y="4105656"/>
            <a:ext cx="3566160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defRPr sz="1140">
                <a:solidFill>
                  <a:srgbClr val="414141"/>
                </a:solidFill>
                <a:latin typeface="MTS Text"/>
              </a:defRPr>
            </a:pPr>
            <a:r>
              <a:t>B1 · 15 МГц · 37,81 Мбит/с · 4 UE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5212080" y="4334256"/>
            <a:ext cx="3566160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45"/>
              </a:lnSpc>
              <a:spcBef>
                <a:spcPts val="0"/>
              </a:spcBef>
              <a:spcAft>
                <a:spcPts val="0"/>
              </a:spcAft>
              <a:defRPr sz="1140">
                <a:solidFill>
                  <a:srgbClr val="414141"/>
                </a:solidFill>
                <a:latin typeface="MTS Text"/>
              </a:defRPr>
            </a:pPr>
            <a:r>
              <a:t>B7 · 10 МГц · 25,20 Мбит/с · 3 UE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28600" y="48737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  <a:defRPr sz="910">
                <a:solidFill>
                  <a:srgbClr val="666666"/>
                </a:solidFill>
                <a:latin typeface="MTS Text"/>
              </a:defRPr>
            </a:pPr>
            <a:r>
              <a:t>Без CA резерв для 14-го UE отсутствует; прежнее правило k=1,10 даёт два сектора.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700" scaled="0"/>
        </a:gra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p22" title="ьеы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7875" y="0"/>
            <a:ext cx="606125" cy="6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Rounded Rectangle 189"/>
          <p:cNvSpPr/>
          <p:nvPr/>
        </p:nvSpPr>
        <p:spPr>
          <a:xfrm>
            <a:off x="182880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TextBox 190"/>
          <p:cNvSpPr txBox="1"/>
          <p:nvPr/>
        </p:nvSpPr>
        <p:spPr>
          <a:xfrm>
            <a:off x="182880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Автор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490472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TextBox 192"/>
          <p:cNvSpPr txBox="1"/>
          <p:nvPr/>
        </p:nvSpPr>
        <p:spPr>
          <a:xfrm>
            <a:off x="1490472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Ёмкость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2798064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0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TextBox 194"/>
          <p:cNvSpPr txBox="1"/>
          <p:nvPr/>
        </p:nvSpPr>
        <p:spPr>
          <a:xfrm>
            <a:off x="2798064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FFFFFF"/>
                </a:solidFill>
                <a:latin typeface="MTS Text"/>
              </a:defRPr>
            </a:pPr>
            <a:r>
              <a:t>Схема DAS</a:t>
            </a:r>
          </a:p>
        </p:txBody>
      </p:sp>
      <p:sp>
        <p:nvSpPr>
          <p:cNvPr id="196" name="Rounded Rectangle 195"/>
          <p:cNvSpPr/>
          <p:nvPr/>
        </p:nvSpPr>
        <p:spPr>
          <a:xfrm>
            <a:off x="4105656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TextBox 196"/>
          <p:cNvSpPr txBox="1"/>
          <p:nvPr/>
        </p:nvSpPr>
        <p:spPr>
          <a:xfrm>
            <a:off x="4105656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Покрытие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5413248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TextBox 198"/>
          <p:cNvSpPr txBox="1"/>
          <p:nvPr/>
        </p:nvSpPr>
        <p:spPr>
          <a:xfrm>
            <a:off x="5413248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Оборудование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6720840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TextBox 200"/>
          <p:cNvSpPr txBox="1"/>
          <p:nvPr/>
        </p:nvSpPr>
        <p:spPr>
          <a:xfrm>
            <a:off x="6720840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Итоги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182880" y="713232"/>
            <a:ext cx="850392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304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414141"/>
                </a:solidFill>
                <a:latin typeface="MTS Wide Medium"/>
              </a:defRPr>
            </a:pPr>
            <a:r>
              <a:t>Один LTE-пул — четыре группы</a:t>
            </a:r>
          </a:p>
          <a:p>
            <a:pPr algn="l">
              <a:lnSpc>
                <a:spcPts val="3304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414141"/>
                </a:solidFill>
                <a:latin typeface="MTS Wide Medium"/>
              </a:defRPr>
            </a:pPr>
            <a:r>
              <a:t>и два независимых RF-дерева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8119872" y="4956048"/>
            <a:ext cx="795528" cy="1188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826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66666"/>
                </a:solidFill>
                <a:latin typeface="MTS Text"/>
              </a:defRPr>
            </a:pPr>
            <a:r>
              <a:t>3 / 6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182880" y="1819656"/>
            <a:ext cx="3154680" cy="2962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ounded Rectangle 204"/>
          <p:cNvSpPr/>
          <p:nvPr/>
        </p:nvSpPr>
        <p:spPr>
          <a:xfrm>
            <a:off x="3474720" y="1819656"/>
            <a:ext cx="5486400" cy="2962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6" name="Picture 205" descr="final-lay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970" y="1901952"/>
            <a:ext cx="1600499" cy="2624328"/>
          </a:xfrm>
          <a:prstGeom prst="rect">
            <a:avLst/>
          </a:prstGeom>
        </p:spPr>
      </p:pic>
      <p:sp>
        <p:nvSpPr>
          <p:cNvPr id="207" name="TextBox 206"/>
          <p:cNvSpPr txBox="1"/>
          <p:nvPr/>
        </p:nvSpPr>
        <p:spPr>
          <a:xfrm>
            <a:off x="384048" y="4572000"/>
            <a:ext cx="2743200" cy="17373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666666"/>
                </a:solidFill>
                <a:latin typeface="MTS Text"/>
              </a:defRPr>
            </a:pPr>
            <a:r>
              <a:t>План первого этажа · 32 In06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3657600" y="1956816"/>
            <a:ext cx="5120640" cy="30175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414141"/>
                </a:solidFill>
                <a:latin typeface="MTS Wide Medium"/>
              </a:defRPr>
            </a:pPr>
            <a:r>
              <a:t>На каждой MIMO-ветви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3657600" y="2414016"/>
            <a:ext cx="5120640" cy="32004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770"/>
              </a:lnSpc>
              <a:spcBef>
                <a:spcPts val="0"/>
              </a:spcBef>
              <a:spcAft>
                <a:spcPts val="0"/>
              </a:spcAft>
              <a:defRPr sz="1500">
                <a:solidFill>
                  <a:srgbClr val="414141"/>
                </a:solidFill>
                <a:latin typeface="MTS Text"/>
              </a:defRPr>
            </a:pPr>
            <a:r>
              <a:t>PC221 ×3 → PC211 ×4 → группы Z1–Z4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3657600" y="2889504"/>
            <a:ext cx="1170432" cy="521207"/>
          </a:xfrm>
          <a:prstGeom prst="roundRect">
            <a:avLst>
              <a:gd name="adj" fmla="val 10000"/>
            </a:avLst>
          </a:prstGeom>
          <a:solidFill>
            <a:srgbClr val="FFF1F5"/>
          </a:solidFill>
          <a:ln w="9525">
            <a:solidFill>
              <a:srgbClr val="FF0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TextBox 210"/>
          <p:cNvSpPr txBox="1"/>
          <p:nvPr/>
        </p:nvSpPr>
        <p:spPr>
          <a:xfrm>
            <a:off x="3657600" y="2999232"/>
            <a:ext cx="1170432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414141"/>
                </a:solidFill>
                <a:latin typeface="MTS Text"/>
              </a:defRPr>
            </a:pPr>
            <a:r>
              <a:t>Z1: 8 In06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4956048" y="2889504"/>
            <a:ext cx="1170432" cy="521207"/>
          </a:xfrm>
          <a:prstGeom prst="roundRect">
            <a:avLst>
              <a:gd name="adj" fmla="val 10000"/>
            </a:avLst>
          </a:prstGeom>
          <a:solidFill>
            <a:srgbClr val="FFF1F5"/>
          </a:solidFill>
          <a:ln w="9525">
            <a:solidFill>
              <a:srgbClr val="FF0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TextBox 212"/>
          <p:cNvSpPr txBox="1"/>
          <p:nvPr/>
        </p:nvSpPr>
        <p:spPr>
          <a:xfrm>
            <a:off x="4956048" y="2999232"/>
            <a:ext cx="1170432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414141"/>
                </a:solidFill>
                <a:latin typeface="MTS Text"/>
              </a:defRPr>
            </a:pPr>
            <a:r>
              <a:t>Z2: 8 In06</a:t>
            </a:r>
          </a:p>
        </p:txBody>
      </p:sp>
      <p:sp>
        <p:nvSpPr>
          <p:cNvPr id="214" name="Rounded Rectangle 213"/>
          <p:cNvSpPr/>
          <p:nvPr/>
        </p:nvSpPr>
        <p:spPr>
          <a:xfrm>
            <a:off x="6254496" y="2889504"/>
            <a:ext cx="1170432" cy="521207"/>
          </a:xfrm>
          <a:prstGeom prst="roundRect">
            <a:avLst>
              <a:gd name="adj" fmla="val 10000"/>
            </a:avLst>
          </a:prstGeom>
          <a:solidFill>
            <a:srgbClr val="FFF1F5"/>
          </a:solidFill>
          <a:ln w="9525">
            <a:solidFill>
              <a:srgbClr val="FF0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6254496" y="2999232"/>
            <a:ext cx="1170432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414141"/>
                </a:solidFill>
                <a:latin typeface="MTS Text"/>
              </a:defRPr>
            </a:pPr>
            <a:r>
              <a:t>Z3: 8 In06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7552944" y="2889504"/>
            <a:ext cx="1170432" cy="521207"/>
          </a:xfrm>
          <a:prstGeom prst="roundRect">
            <a:avLst>
              <a:gd name="adj" fmla="val 10000"/>
            </a:avLst>
          </a:prstGeom>
          <a:solidFill>
            <a:srgbClr val="FFF1F5"/>
          </a:solidFill>
          <a:ln w="9525">
            <a:solidFill>
              <a:srgbClr val="FF00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TextBox 216"/>
          <p:cNvSpPr txBox="1"/>
          <p:nvPr/>
        </p:nvSpPr>
        <p:spPr>
          <a:xfrm>
            <a:off x="7552944" y="2999232"/>
            <a:ext cx="1170432" cy="23774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416"/>
              </a:lnSpc>
              <a:spcBef>
                <a:spcPts val="0"/>
              </a:spcBef>
              <a:spcAft>
                <a:spcPts val="0"/>
              </a:spcAft>
              <a:defRPr sz="1200">
                <a:solidFill>
                  <a:srgbClr val="414141"/>
                </a:solidFill>
                <a:latin typeface="MTS Text"/>
              </a:defRPr>
            </a:pPr>
            <a:r>
              <a:t>Z4: 8 In06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657600" y="3639312"/>
            <a:ext cx="5120640" cy="30175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510"/>
              </a:lnSpc>
              <a:spcBef>
                <a:spcPts val="0"/>
              </a:spcBef>
              <a:spcAft>
                <a:spcPts val="0"/>
              </a:spcAft>
              <a:defRPr sz="1280">
                <a:solidFill>
                  <a:srgbClr val="414141"/>
                </a:solidFill>
                <a:latin typeface="MTS Text"/>
              </a:defRPr>
            </a:pPr>
            <a:r>
              <a:t>В группе: 2 напрямую + 2 через PC250 + 4 через PC252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3657600" y="4197096"/>
            <a:ext cx="5120640" cy="32918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414141"/>
                </a:solidFill>
                <a:latin typeface="MTS Text"/>
              </a:defRPr>
            </a:pPr>
            <a:r>
              <a:t>Доли мощности: 1/4 · 1/8 · 1/16</a:t>
            </a:r>
          </a:p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414141"/>
                </a:solidFill>
                <a:latin typeface="MTS Text"/>
              </a:defRPr>
            </a:pPr>
            <a:r>
              <a:t>M1 и M2 подключены к разным портам антенн.</a:t>
            </a:r>
          </a:p>
        </p:txBody>
      </p:sp>
      <p:sp>
        <p:nvSpPr>
          <p:cNvPr id="220" name="TextBox 219"/>
          <p:cNvSpPr txBox="1"/>
          <p:nvPr/>
        </p:nvSpPr>
        <p:spPr>
          <a:xfrm>
            <a:off x="228600" y="48737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  <a:defRPr sz="910">
                <a:solidFill>
                  <a:srgbClr val="666666"/>
                </a:solidFill>
                <a:latin typeface="MTS Text"/>
              </a:defRPr>
            </a:pPr>
            <a:r>
              <a:t>Головной узел — проектная зона 104.2. Высоты антенны / UE: 7 / 1,5 м.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700" scaled="0"/>
        </a:gradFill>
        <a:effectLst/>
      </p:bgPr>
    </p:bg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5" title="ьеы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7875" y="0"/>
            <a:ext cx="606125" cy="6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Rounded Rectangle 268"/>
          <p:cNvSpPr/>
          <p:nvPr/>
        </p:nvSpPr>
        <p:spPr>
          <a:xfrm>
            <a:off x="182880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182880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Автор</a:t>
            </a:r>
          </a:p>
        </p:txBody>
      </p:sp>
      <p:sp>
        <p:nvSpPr>
          <p:cNvPr id="271" name="Rounded Rectangle 270"/>
          <p:cNvSpPr/>
          <p:nvPr/>
        </p:nvSpPr>
        <p:spPr>
          <a:xfrm>
            <a:off x="1490472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490472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Ёмкость</a:t>
            </a:r>
          </a:p>
        </p:txBody>
      </p:sp>
      <p:sp>
        <p:nvSpPr>
          <p:cNvPr id="273" name="Rounded Rectangle 272"/>
          <p:cNvSpPr/>
          <p:nvPr/>
        </p:nvSpPr>
        <p:spPr>
          <a:xfrm>
            <a:off x="2798064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2798064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Схема DAS</a:t>
            </a:r>
          </a:p>
        </p:txBody>
      </p:sp>
      <p:sp>
        <p:nvSpPr>
          <p:cNvPr id="275" name="Rounded Rectangle 274"/>
          <p:cNvSpPr/>
          <p:nvPr/>
        </p:nvSpPr>
        <p:spPr>
          <a:xfrm>
            <a:off x="4105656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0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4105656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FFFFFF"/>
                </a:solidFill>
                <a:latin typeface="MTS Text"/>
              </a:defRPr>
            </a:pPr>
            <a:r>
              <a:t>Покрытие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5413248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5413248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Оборудование</a:t>
            </a:r>
          </a:p>
        </p:txBody>
      </p:sp>
      <p:sp>
        <p:nvSpPr>
          <p:cNvPr id="279" name="Rounded Rectangle 278"/>
          <p:cNvSpPr/>
          <p:nvPr/>
        </p:nvSpPr>
        <p:spPr>
          <a:xfrm>
            <a:off x="6720840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6720840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Итоги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182880" y="713232"/>
            <a:ext cx="850392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304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414141"/>
                </a:solidFill>
                <a:latin typeface="MTS Wide Medium"/>
              </a:defRPr>
            </a:pPr>
            <a:r>
              <a:t>RSRP и качество DL:</a:t>
            </a:r>
          </a:p>
          <a:p>
            <a:pPr algn="l">
              <a:lnSpc>
                <a:spcPts val="3304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414141"/>
                </a:solidFill>
                <a:latin typeface="MTS Wide Medium"/>
              </a:defRPr>
            </a:pPr>
            <a:r>
              <a:t>результаты условных сценариев</a:t>
            </a:r>
          </a:p>
        </p:txBody>
      </p:sp>
      <p:sp>
        <p:nvSpPr>
          <p:cNvPr id="282" name="TextBox 281"/>
          <p:cNvSpPr txBox="1"/>
          <p:nvPr/>
        </p:nvSpPr>
        <p:spPr>
          <a:xfrm>
            <a:off x="8119872" y="4956048"/>
            <a:ext cx="795528" cy="1188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826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66666"/>
                </a:solidFill>
                <a:latin typeface="MTS Text"/>
              </a:defRPr>
            </a:pPr>
            <a:r>
              <a:t>4 / 6</a:t>
            </a:r>
          </a:p>
        </p:txBody>
      </p:sp>
      <p:sp>
        <p:nvSpPr>
          <p:cNvPr id="283" name="Rounded Rectangle 282"/>
          <p:cNvSpPr/>
          <p:nvPr/>
        </p:nvSpPr>
        <p:spPr>
          <a:xfrm>
            <a:off x="182880" y="1819656"/>
            <a:ext cx="3154680" cy="2962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Rounded Rectangle 283"/>
          <p:cNvSpPr/>
          <p:nvPr/>
        </p:nvSpPr>
        <p:spPr>
          <a:xfrm>
            <a:off x="3474720" y="1819656"/>
            <a:ext cx="5486400" cy="29626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5" name="Picture 284" descr="rsrp-2600-n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3700" y="1911095"/>
            <a:ext cx="1873038" cy="2670048"/>
          </a:xfrm>
          <a:prstGeom prst="rect">
            <a:avLst/>
          </a:prstGeom>
        </p:spPr>
      </p:pic>
      <p:sp>
        <p:nvSpPr>
          <p:cNvPr id="286" name="TextBox 285"/>
          <p:cNvSpPr txBox="1"/>
          <p:nvPr/>
        </p:nvSpPr>
        <p:spPr>
          <a:xfrm>
            <a:off x="365760" y="4581144"/>
            <a:ext cx="2788920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1121"/>
              </a:lnSpc>
              <a:spcBef>
                <a:spcPts val="0"/>
              </a:spcBef>
              <a:spcAft>
                <a:spcPts val="0"/>
              </a:spcAft>
              <a:defRPr sz="950">
                <a:solidFill>
                  <a:srgbClr val="666666"/>
                </a:solidFill>
                <a:latin typeface="MTS Text"/>
              </a:defRPr>
            </a:pPr>
            <a:r>
              <a:t>B7 · n=3 · карта с шагом 0,25 м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3657600" y="1947672"/>
            <a:ext cx="512064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652"/>
              </a:lnSpc>
              <a:spcBef>
                <a:spcPts val="0"/>
              </a:spcBef>
              <a:spcAft>
                <a:spcPts val="0"/>
              </a:spcAft>
              <a:defRPr sz="1400">
                <a:solidFill>
                  <a:srgbClr val="414141"/>
                </a:solidFill>
                <a:latin typeface="MTS Wide Medium"/>
              </a:defRPr>
            </a:pPr>
            <a:r>
              <a:t>RSRP &gt; −90 дБм · доля от 2100 м²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3657600" y="2441448"/>
            <a:ext cx="2194560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66666"/>
                </a:solidFill>
                <a:latin typeface="MTS Text"/>
              </a:defRPr>
            </a:pPr>
            <a:r>
              <a:t>Расчётный режим</a:t>
            </a:r>
          </a:p>
        </p:txBody>
      </p:sp>
      <p:sp>
        <p:nvSpPr>
          <p:cNvPr id="289" name="TextBox 288"/>
          <p:cNvSpPr txBox="1"/>
          <p:nvPr/>
        </p:nvSpPr>
        <p:spPr>
          <a:xfrm>
            <a:off x="5989320" y="2441448"/>
            <a:ext cx="731520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66666"/>
                </a:solidFill>
                <a:latin typeface="MTS Text"/>
              </a:defRPr>
            </a:pPr>
            <a:r>
              <a:t>B3</a:t>
            </a:r>
          </a:p>
        </p:txBody>
      </p:sp>
      <p:sp>
        <p:nvSpPr>
          <p:cNvPr id="290" name="TextBox 289"/>
          <p:cNvSpPr txBox="1"/>
          <p:nvPr/>
        </p:nvSpPr>
        <p:spPr>
          <a:xfrm>
            <a:off x="6903720" y="2441448"/>
            <a:ext cx="731520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66666"/>
                </a:solidFill>
                <a:latin typeface="MTS Text"/>
              </a:defRPr>
            </a:pPr>
            <a:r>
              <a:t>B1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7863840" y="2441448"/>
            <a:ext cx="822960" cy="21031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666666"/>
                </a:solidFill>
                <a:latin typeface="MTS Text"/>
              </a:defRPr>
            </a:pPr>
            <a:r>
              <a:t>B7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3657600" y="2770632"/>
            <a:ext cx="228600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60">
                <a:solidFill>
                  <a:srgbClr val="414141"/>
                </a:solidFill>
                <a:latin typeface="MTS Text"/>
              </a:defRPr>
            </a:pPr>
            <a:r>
              <a:t>n=3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5989320" y="2770632"/>
            <a:ext cx="8686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414141"/>
                </a:solidFill>
                <a:latin typeface="MTS Text"/>
              </a:defRPr>
            </a:pPr>
            <a:r>
              <a:t>96,48%</a:t>
            </a:r>
          </a:p>
        </p:txBody>
      </p:sp>
      <p:sp>
        <p:nvSpPr>
          <p:cNvPr id="294" name="TextBox 293"/>
          <p:cNvSpPr txBox="1"/>
          <p:nvPr/>
        </p:nvSpPr>
        <p:spPr>
          <a:xfrm>
            <a:off x="6903720" y="2770632"/>
            <a:ext cx="8686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414141"/>
                </a:solidFill>
                <a:latin typeface="MTS Text"/>
              </a:defRPr>
            </a:pPr>
            <a:r>
              <a:t>96,45%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7863840" y="2770632"/>
            <a:ext cx="8686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414141"/>
                </a:solidFill>
                <a:latin typeface="MTS Text"/>
              </a:defRPr>
            </a:pPr>
            <a:r>
              <a:t>96,37%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3657600" y="3044951"/>
            <a:ext cx="228600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60">
                <a:solidFill>
                  <a:srgbClr val="414141"/>
                </a:solidFill>
                <a:latin typeface="MTS Text"/>
              </a:defRPr>
            </a:pPr>
            <a:r>
              <a:t>n=3, закрытые проёмы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5989320" y="3044951"/>
            <a:ext cx="8686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414141"/>
                </a:solidFill>
                <a:latin typeface="MTS Text"/>
              </a:defRPr>
            </a:pPr>
            <a:r>
              <a:t>96,12%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6903720" y="3044951"/>
            <a:ext cx="8686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414141"/>
                </a:solidFill>
                <a:latin typeface="MTS Text"/>
              </a:defRPr>
            </a:pPr>
            <a:r>
              <a:t>96,02%</a:t>
            </a:r>
          </a:p>
        </p:txBody>
      </p:sp>
      <p:sp>
        <p:nvSpPr>
          <p:cNvPr id="299" name="TextBox 298"/>
          <p:cNvSpPr txBox="1"/>
          <p:nvPr/>
        </p:nvSpPr>
        <p:spPr>
          <a:xfrm>
            <a:off x="7863840" y="3044951"/>
            <a:ext cx="8686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414141"/>
                </a:solidFill>
                <a:latin typeface="MTS Text"/>
              </a:defRPr>
            </a:pPr>
            <a:r>
              <a:t>95,85%</a:t>
            </a:r>
          </a:p>
        </p:txBody>
      </p:sp>
      <p:sp>
        <p:nvSpPr>
          <p:cNvPr id="300" name="TextBox 299"/>
          <p:cNvSpPr txBox="1"/>
          <p:nvPr/>
        </p:nvSpPr>
        <p:spPr>
          <a:xfrm>
            <a:off x="3657600" y="3319272"/>
            <a:ext cx="228600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60">
                <a:solidFill>
                  <a:srgbClr val="FF0032"/>
                </a:solidFill>
                <a:latin typeface="MTS Text"/>
              </a:defRPr>
            </a:pPr>
            <a:r>
              <a:t>P2: 23 дБм на несущую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5989320" y="3319272"/>
            <a:ext cx="8686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F0032"/>
                </a:solidFill>
                <a:latin typeface="MTS Text"/>
              </a:defRPr>
            </a:pPr>
            <a:r>
              <a:t>94,49%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6903720" y="3319272"/>
            <a:ext cx="8686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F0032"/>
                </a:solidFill>
                <a:latin typeface="MTS Text"/>
              </a:defRPr>
            </a:pPr>
            <a:r>
              <a:t>93,52%</a:t>
            </a:r>
          </a:p>
        </p:txBody>
      </p:sp>
      <p:sp>
        <p:nvSpPr>
          <p:cNvPr id="303" name="TextBox 302"/>
          <p:cNvSpPr txBox="1"/>
          <p:nvPr/>
        </p:nvSpPr>
        <p:spPr>
          <a:xfrm>
            <a:off x="7863840" y="3319272"/>
            <a:ext cx="868680" cy="21945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FF0032"/>
                </a:solidFill>
                <a:latin typeface="MTS Text"/>
              </a:defRPr>
            </a:pPr>
            <a:r>
              <a:t>91,68%</a:t>
            </a:r>
          </a:p>
        </p:txBody>
      </p:sp>
      <p:sp>
        <p:nvSpPr>
          <p:cNvPr id="304" name="TextBox 303"/>
          <p:cNvSpPr txBox="1"/>
          <p:nvPr/>
        </p:nvSpPr>
        <p:spPr>
          <a:xfrm>
            <a:off x="3657600" y="3703320"/>
            <a:ext cx="50749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defRPr sz="1150">
                <a:solidFill>
                  <a:srgbClr val="414141"/>
                </a:solidFill>
                <a:latin typeface="MTS Text"/>
              </a:defRPr>
            </a:pPr>
            <a:r>
              <a:t>L2 / B7: SINR ≥17 — 96,75%</a:t>
            </a:r>
          </a:p>
          <a:p>
            <a:pPr algn="l">
              <a:lnSpc>
                <a:spcPts val="1356"/>
              </a:lnSpc>
              <a:spcBef>
                <a:spcPts val="0"/>
              </a:spcBef>
              <a:spcAft>
                <a:spcPts val="0"/>
              </a:spcAft>
              <a:defRPr sz="1150">
                <a:solidFill>
                  <a:srgbClr val="414141"/>
                </a:solidFill>
                <a:latin typeface="MTS Text"/>
              </a:defRPr>
            </a:pPr>
            <a:r>
              <a:t>RSRQ &gt;−12 — 97,59%</a:t>
            </a:r>
          </a:p>
        </p:txBody>
      </p:sp>
      <p:sp>
        <p:nvSpPr>
          <p:cNvPr id="305" name="TextBox 304"/>
          <p:cNvSpPr txBox="1"/>
          <p:nvPr/>
        </p:nvSpPr>
        <p:spPr>
          <a:xfrm>
            <a:off x="3657600" y="4279392"/>
            <a:ext cx="50749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38"/>
              </a:lnSpc>
              <a:spcBef>
                <a:spcPts val="0"/>
              </a:spcBef>
              <a:spcAft>
                <a:spcPts val="0"/>
              </a:spcAft>
              <a:defRPr sz="1050">
                <a:solidFill>
                  <a:srgbClr val="414141"/>
                </a:solidFill>
                <a:latin typeface="MTS Text"/>
              </a:defRPr>
            </a:pPr>
            <a:r>
              <a:t>DCS: C/I &gt;20 — 96,53% при I=−70 дБм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228600" y="48737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38"/>
              </a:lnSpc>
              <a:spcBef>
                <a:spcPts val="0"/>
              </a:spcBef>
              <a:spcAft>
                <a:spcPts val="0"/>
              </a:spcAft>
              <a:defRPr sz="880">
                <a:solidFill>
                  <a:srgbClr val="666666"/>
                </a:solidFill>
                <a:latin typeface="MTS Text"/>
              </a:defRPr>
            </a:pPr>
            <a:r>
              <a:t>L2: P1, n=2,5; NF=7 дБ, β=0,5, ρ=0,8; I=−115 дБм/15 кГц. DCS: I в полосе 200 кГц.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700" scaled="0"/>
        </a:gradFill>
        <a:effectLst/>
      </p:bgPr>
    </p:bg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28" title="ьеы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7875" y="0"/>
            <a:ext cx="606125" cy="6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Rounded Rectangle 340"/>
          <p:cNvSpPr/>
          <p:nvPr/>
        </p:nvSpPr>
        <p:spPr>
          <a:xfrm>
            <a:off x="182880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182880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Автор</a:t>
            </a:r>
          </a:p>
        </p:txBody>
      </p:sp>
      <p:sp>
        <p:nvSpPr>
          <p:cNvPr id="343" name="Rounded Rectangle 342"/>
          <p:cNvSpPr/>
          <p:nvPr/>
        </p:nvSpPr>
        <p:spPr>
          <a:xfrm>
            <a:off x="1490472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TextBox 343"/>
          <p:cNvSpPr txBox="1"/>
          <p:nvPr/>
        </p:nvSpPr>
        <p:spPr>
          <a:xfrm>
            <a:off x="1490472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Ёмкость</a:t>
            </a:r>
          </a:p>
        </p:txBody>
      </p:sp>
      <p:sp>
        <p:nvSpPr>
          <p:cNvPr id="345" name="Rounded Rectangle 344"/>
          <p:cNvSpPr/>
          <p:nvPr/>
        </p:nvSpPr>
        <p:spPr>
          <a:xfrm>
            <a:off x="2798064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2798064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Схема DAS</a:t>
            </a:r>
          </a:p>
        </p:txBody>
      </p:sp>
      <p:sp>
        <p:nvSpPr>
          <p:cNvPr id="347" name="Rounded Rectangle 346"/>
          <p:cNvSpPr/>
          <p:nvPr/>
        </p:nvSpPr>
        <p:spPr>
          <a:xfrm>
            <a:off x="4105656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8" name="TextBox 347"/>
          <p:cNvSpPr txBox="1"/>
          <p:nvPr/>
        </p:nvSpPr>
        <p:spPr>
          <a:xfrm>
            <a:off x="4105656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Покрытие</a:t>
            </a:r>
          </a:p>
        </p:txBody>
      </p:sp>
      <p:sp>
        <p:nvSpPr>
          <p:cNvPr id="349" name="Rounded Rectangle 348"/>
          <p:cNvSpPr/>
          <p:nvPr/>
        </p:nvSpPr>
        <p:spPr>
          <a:xfrm>
            <a:off x="5413248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0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0" name="TextBox 349"/>
          <p:cNvSpPr txBox="1"/>
          <p:nvPr/>
        </p:nvSpPr>
        <p:spPr>
          <a:xfrm>
            <a:off x="5413248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FFFFFF"/>
                </a:solidFill>
                <a:latin typeface="MTS Text"/>
              </a:defRPr>
            </a:pPr>
            <a:r>
              <a:t>Оборудование</a:t>
            </a:r>
          </a:p>
        </p:txBody>
      </p:sp>
      <p:sp>
        <p:nvSpPr>
          <p:cNvPr id="351" name="Rounded Rectangle 350"/>
          <p:cNvSpPr/>
          <p:nvPr/>
        </p:nvSpPr>
        <p:spPr>
          <a:xfrm>
            <a:off x="6720840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2" name="TextBox 351"/>
          <p:cNvSpPr txBox="1"/>
          <p:nvPr/>
        </p:nvSpPr>
        <p:spPr>
          <a:xfrm>
            <a:off x="6720840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Итоги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82880" y="713232"/>
            <a:ext cx="850392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304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414141"/>
                </a:solidFill>
                <a:latin typeface="MTS Wide Medium"/>
              </a:defRPr>
            </a:pPr>
            <a:r>
              <a:t>Оборудование и трассы</a:t>
            </a:r>
          </a:p>
          <a:p>
            <a:pPr algn="l">
              <a:lnSpc>
                <a:spcPts val="3304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414141"/>
                </a:solidFill>
                <a:latin typeface="MTS Wide Medium"/>
              </a:defRPr>
            </a:pPr>
            <a:r>
              <a:t>следуют одной схеме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8119872" y="4956048"/>
            <a:ext cx="795528" cy="1188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826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66666"/>
                </a:solidFill>
                <a:latin typeface="MTS Text"/>
              </a:defRPr>
            </a:pPr>
            <a:r>
              <a:t>5 / 6</a:t>
            </a:r>
          </a:p>
        </p:txBody>
      </p:sp>
      <p:sp>
        <p:nvSpPr>
          <p:cNvPr id="355" name="Rounded Rectangle 354"/>
          <p:cNvSpPr/>
          <p:nvPr/>
        </p:nvSpPr>
        <p:spPr>
          <a:xfrm>
            <a:off x="182880" y="1819656"/>
            <a:ext cx="2871216" cy="1399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6" name="TextBox 355"/>
          <p:cNvSpPr txBox="1"/>
          <p:nvPr/>
        </p:nvSpPr>
        <p:spPr>
          <a:xfrm>
            <a:off x="338328" y="1947672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F0032"/>
                </a:solidFill>
                <a:latin typeface="MTS Text"/>
              </a:defRPr>
            </a:pPr>
            <a:r>
              <a:t>АНТЕННЫ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338328" y="2295144"/>
            <a:ext cx="25603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14141"/>
                </a:solidFill>
                <a:latin typeface="MTS Wide Medium"/>
              </a:defRPr>
            </a:pPr>
            <a:r>
              <a:t>32 In06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338328" y="2752344"/>
            <a:ext cx="2560320" cy="3931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Два RF-порта на антенну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64 антенных порта</a:t>
            </a:r>
          </a:p>
        </p:txBody>
      </p:sp>
      <p:sp>
        <p:nvSpPr>
          <p:cNvPr id="359" name="Rounded Rectangle 358"/>
          <p:cNvSpPr/>
          <p:nvPr/>
        </p:nvSpPr>
        <p:spPr>
          <a:xfrm>
            <a:off x="3136392" y="1819656"/>
            <a:ext cx="2871216" cy="1399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TextBox 359"/>
          <p:cNvSpPr txBox="1"/>
          <p:nvPr/>
        </p:nvSpPr>
        <p:spPr>
          <a:xfrm>
            <a:off x="3291840" y="1947672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F0032"/>
                </a:solidFill>
                <a:latin typeface="MTS Text"/>
              </a:defRPr>
            </a:pPr>
            <a:r>
              <a:t>ГОЛОВНОЙ УЗЕЛ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3291840" y="2295144"/>
            <a:ext cx="25603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defRPr sz="1720">
                <a:solidFill>
                  <a:srgbClr val="414141"/>
                </a:solidFill>
                <a:latin typeface="MTS Wide Medium"/>
              </a:defRPr>
            </a:pPr>
            <a:r>
              <a:t>6 PC221 · 8 PC211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3291840" y="2752344"/>
            <a:ext cx="2560320" cy="3931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Объединение операторов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и диапазонов B3 / B1 / B7</a:t>
            </a:r>
          </a:p>
        </p:txBody>
      </p:sp>
      <p:sp>
        <p:nvSpPr>
          <p:cNvPr id="363" name="Rounded Rectangle 362"/>
          <p:cNvSpPr/>
          <p:nvPr/>
        </p:nvSpPr>
        <p:spPr>
          <a:xfrm>
            <a:off x="6089904" y="1819656"/>
            <a:ext cx="2871216" cy="1399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4" name="TextBox 363"/>
          <p:cNvSpPr txBox="1"/>
          <p:nvPr/>
        </p:nvSpPr>
        <p:spPr>
          <a:xfrm>
            <a:off x="6245352" y="1947672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F0032"/>
                </a:solidFill>
                <a:latin typeface="MTS Text"/>
              </a:defRPr>
            </a:pPr>
            <a:r>
              <a:t>РАСПРЕДЕЛИТЕЛИ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6245352" y="2295144"/>
            <a:ext cx="25603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029"/>
              </a:lnSpc>
              <a:spcBef>
                <a:spcPts val="0"/>
              </a:spcBef>
              <a:spcAft>
                <a:spcPts val="0"/>
              </a:spcAft>
              <a:defRPr sz="1720">
                <a:solidFill>
                  <a:srgbClr val="414141"/>
                </a:solidFill>
                <a:latin typeface="MTS Wide Medium"/>
              </a:defRPr>
            </a:pPr>
            <a:r>
              <a:t>9 PC250 · 16 PC252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6245352" y="2752344"/>
            <a:ext cx="2560320" cy="3931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Парные и четверные группы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Схема распределения 2+2+4</a:t>
            </a:r>
          </a:p>
        </p:txBody>
      </p:sp>
      <p:sp>
        <p:nvSpPr>
          <p:cNvPr id="367" name="Rounded Rectangle 366"/>
          <p:cNvSpPr/>
          <p:nvPr/>
        </p:nvSpPr>
        <p:spPr>
          <a:xfrm>
            <a:off x="182880" y="3328415"/>
            <a:ext cx="2871216" cy="1399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8" name="TextBox 367"/>
          <p:cNvSpPr txBox="1"/>
          <p:nvPr/>
        </p:nvSpPr>
        <p:spPr>
          <a:xfrm>
            <a:off x="338328" y="3456432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F0032"/>
                </a:solidFill>
                <a:latin typeface="MTS Text"/>
              </a:defRPr>
            </a:pPr>
            <a:r>
              <a:t>КОАКСИАЛ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338328" y="3803904"/>
            <a:ext cx="25603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14141"/>
                </a:solidFill>
                <a:latin typeface="MTS Wide Medium"/>
              </a:defRPr>
            </a:pPr>
            <a:r>
              <a:t>1404 м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338328" y="4261104"/>
            <a:ext cx="2560320" cy="3931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С резервом: 1366 м 7/8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и 179 м 1/2</a:t>
            </a:r>
          </a:p>
        </p:txBody>
      </p:sp>
      <p:sp>
        <p:nvSpPr>
          <p:cNvPr id="371" name="Rounded Rectangle 370"/>
          <p:cNvSpPr/>
          <p:nvPr/>
        </p:nvSpPr>
        <p:spPr>
          <a:xfrm>
            <a:off x="3136392" y="3328415"/>
            <a:ext cx="2871216" cy="1399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2" name="TextBox 371"/>
          <p:cNvSpPr txBox="1"/>
          <p:nvPr/>
        </p:nvSpPr>
        <p:spPr>
          <a:xfrm>
            <a:off x="3291840" y="3456432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F0032"/>
                </a:solidFill>
                <a:latin typeface="MTS Text"/>
              </a:defRPr>
            </a:pPr>
            <a:r>
              <a:t>СОЕДИНЕНИЯ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3291840" y="3803904"/>
            <a:ext cx="25603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14141"/>
                </a:solidFill>
                <a:latin typeface="MTS Wide Medium"/>
              </a:defRPr>
            </a:pPr>
            <a:r>
              <a:t>168 разъёмов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3291840" y="4261104"/>
            <a:ext cx="2560320" cy="3931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7/8 — 100 шт.; 1/2 — 68 шт.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Исполнения male / female</a:t>
            </a:r>
          </a:p>
        </p:txBody>
      </p:sp>
      <p:sp>
        <p:nvSpPr>
          <p:cNvPr id="375" name="Rounded Rectangle 374"/>
          <p:cNvSpPr/>
          <p:nvPr/>
        </p:nvSpPr>
        <p:spPr>
          <a:xfrm>
            <a:off x="6089904" y="3328415"/>
            <a:ext cx="2871216" cy="1399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6" name="TextBox 375"/>
          <p:cNvSpPr txBox="1"/>
          <p:nvPr/>
        </p:nvSpPr>
        <p:spPr>
          <a:xfrm>
            <a:off x="6245352" y="3456432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F0032"/>
                </a:solidFill>
                <a:latin typeface="MTS Text"/>
              </a:defRPr>
            </a:pPr>
            <a:r>
              <a:t>ДЖАМПЕРЫ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6245352" y="3803904"/>
            <a:ext cx="25603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14141"/>
                </a:solidFill>
                <a:latin typeface="MTS Wide Medium"/>
              </a:defRPr>
            </a:pPr>
            <a:r>
              <a:t>113 × 3 м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6245352" y="4261104"/>
            <a:ext cx="2560320" cy="3931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101 рабочий + 12 резервных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Включая четыре местных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228600" y="4873752"/>
            <a:ext cx="7772400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073"/>
              </a:lnSpc>
              <a:spcBef>
                <a:spcPts val="0"/>
              </a:spcBef>
              <a:spcAft>
                <a:spcPts val="0"/>
              </a:spcAft>
              <a:defRPr sz="910">
                <a:solidFill>
                  <a:srgbClr val="666666"/>
                </a:solidFill>
                <a:latin typeface="MTS Text"/>
              </a:defRPr>
            </a:pPr>
            <a:r>
              <a:t>Условия комплектации: нагрузки 50 Ом, интерфейсы RF-портов и пожарное исполнение кабелей.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1C9FF"/>
            </a:gs>
            <a:gs pos="100000">
              <a:srgbClr val="FFE9E4"/>
            </a:gs>
          </a:gsLst>
          <a:lin ang="5400700" scaled="0"/>
        </a:gra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5" name="Google Shape;385;p29" title="ьеы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37875" y="0"/>
            <a:ext cx="606125" cy="60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86" name="Rounded Rectangle 385"/>
          <p:cNvSpPr/>
          <p:nvPr/>
        </p:nvSpPr>
        <p:spPr>
          <a:xfrm>
            <a:off x="182880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TextBox 386"/>
          <p:cNvSpPr txBox="1"/>
          <p:nvPr/>
        </p:nvSpPr>
        <p:spPr>
          <a:xfrm>
            <a:off x="182880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Автор</a:t>
            </a:r>
          </a:p>
        </p:txBody>
      </p:sp>
      <p:sp>
        <p:nvSpPr>
          <p:cNvPr id="388" name="Rounded Rectangle 387"/>
          <p:cNvSpPr/>
          <p:nvPr/>
        </p:nvSpPr>
        <p:spPr>
          <a:xfrm>
            <a:off x="1490472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9" name="TextBox 388"/>
          <p:cNvSpPr txBox="1"/>
          <p:nvPr/>
        </p:nvSpPr>
        <p:spPr>
          <a:xfrm>
            <a:off x="1490472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Ёмкость</a:t>
            </a:r>
          </a:p>
        </p:txBody>
      </p:sp>
      <p:sp>
        <p:nvSpPr>
          <p:cNvPr id="390" name="Rounded Rectangle 389"/>
          <p:cNvSpPr/>
          <p:nvPr/>
        </p:nvSpPr>
        <p:spPr>
          <a:xfrm>
            <a:off x="2798064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1" name="TextBox 390"/>
          <p:cNvSpPr txBox="1"/>
          <p:nvPr/>
        </p:nvSpPr>
        <p:spPr>
          <a:xfrm>
            <a:off x="2798064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Схема DAS</a:t>
            </a:r>
          </a:p>
        </p:txBody>
      </p:sp>
      <p:sp>
        <p:nvSpPr>
          <p:cNvPr id="392" name="Rounded Rectangle 391"/>
          <p:cNvSpPr/>
          <p:nvPr/>
        </p:nvSpPr>
        <p:spPr>
          <a:xfrm>
            <a:off x="4105656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3" name="TextBox 392"/>
          <p:cNvSpPr txBox="1"/>
          <p:nvPr/>
        </p:nvSpPr>
        <p:spPr>
          <a:xfrm>
            <a:off x="4105656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Покрытие</a:t>
            </a:r>
          </a:p>
        </p:txBody>
      </p:sp>
      <p:sp>
        <p:nvSpPr>
          <p:cNvPr id="394" name="Rounded Rectangle 393"/>
          <p:cNvSpPr/>
          <p:nvPr/>
        </p:nvSpPr>
        <p:spPr>
          <a:xfrm>
            <a:off x="5413248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5" name="TextBox 394"/>
          <p:cNvSpPr txBox="1"/>
          <p:nvPr/>
        </p:nvSpPr>
        <p:spPr>
          <a:xfrm>
            <a:off x="5413248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666666"/>
                </a:solidFill>
                <a:latin typeface="MTS Text"/>
              </a:defRPr>
            </a:pPr>
            <a:r>
              <a:t>Оборудование</a:t>
            </a:r>
          </a:p>
        </p:txBody>
      </p:sp>
      <p:sp>
        <p:nvSpPr>
          <p:cNvPr id="396" name="Rounded Rectangle 395"/>
          <p:cNvSpPr/>
          <p:nvPr/>
        </p:nvSpPr>
        <p:spPr>
          <a:xfrm>
            <a:off x="6720840" y="182880"/>
            <a:ext cx="1243584" cy="256032"/>
          </a:xfrm>
          <a:prstGeom prst="roundRect">
            <a:avLst>
              <a:gd name="adj" fmla="val 10000"/>
            </a:avLst>
          </a:prstGeom>
          <a:solidFill>
            <a:srgbClr val="FF00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7" name="TextBox 396"/>
          <p:cNvSpPr txBox="1"/>
          <p:nvPr/>
        </p:nvSpPr>
        <p:spPr>
          <a:xfrm>
            <a:off x="6720840" y="233172"/>
            <a:ext cx="1243584" cy="16459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ts val="991"/>
              </a:lnSpc>
              <a:spcBef>
                <a:spcPts val="0"/>
              </a:spcBef>
              <a:spcAft>
                <a:spcPts val="0"/>
              </a:spcAft>
              <a:defRPr sz="840">
                <a:solidFill>
                  <a:srgbClr val="FFFFFF"/>
                </a:solidFill>
                <a:latin typeface="MTS Text"/>
              </a:defRPr>
            </a:pPr>
            <a:r>
              <a:t>Итоги</a:t>
            </a:r>
          </a:p>
        </p:txBody>
      </p:sp>
      <p:sp>
        <p:nvSpPr>
          <p:cNvPr id="398" name="TextBox 397"/>
          <p:cNvSpPr txBox="1"/>
          <p:nvPr/>
        </p:nvSpPr>
        <p:spPr>
          <a:xfrm>
            <a:off x="182880" y="713232"/>
            <a:ext cx="8503920" cy="9144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3304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414141"/>
                </a:solidFill>
                <a:latin typeface="MTS Wide Medium"/>
              </a:defRPr>
            </a:pPr>
            <a:r>
              <a:t>Три решения, которые</a:t>
            </a:r>
          </a:p>
          <a:p>
            <a:pPr algn="l">
              <a:lnSpc>
                <a:spcPts val="3304"/>
              </a:lnSpc>
              <a:spcBef>
                <a:spcPts val="0"/>
              </a:spcBef>
              <a:spcAft>
                <a:spcPts val="0"/>
              </a:spcAft>
              <a:defRPr sz="2800">
                <a:solidFill>
                  <a:srgbClr val="414141"/>
                </a:solidFill>
                <a:latin typeface="MTS Wide Medium"/>
              </a:defRPr>
            </a:pPr>
            <a:r>
              <a:t>определяют результат</a:t>
            </a:r>
          </a:p>
        </p:txBody>
      </p:sp>
      <p:sp>
        <p:nvSpPr>
          <p:cNvPr id="399" name="TextBox 398"/>
          <p:cNvSpPr txBox="1"/>
          <p:nvPr/>
        </p:nvSpPr>
        <p:spPr>
          <a:xfrm>
            <a:off x="8119872" y="4956048"/>
            <a:ext cx="795528" cy="11887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r">
              <a:lnSpc>
                <a:spcPts val="826"/>
              </a:lnSpc>
              <a:spcBef>
                <a:spcPts val="0"/>
              </a:spcBef>
              <a:spcAft>
                <a:spcPts val="0"/>
              </a:spcAft>
              <a:defRPr sz="700">
                <a:solidFill>
                  <a:srgbClr val="666666"/>
                </a:solidFill>
                <a:latin typeface="MTS Text"/>
              </a:defRPr>
            </a:pPr>
            <a:r>
              <a:t>6 / 6</a:t>
            </a:r>
          </a:p>
        </p:txBody>
      </p:sp>
      <p:sp>
        <p:nvSpPr>
          <p:cNvPr id="400" name="Rounded Rectangle 399"/>
          <p:cNvSpPr/>
          <p:nvPr/>
        </p:nvSpPr>
        <p:spPr>
          <a:xfrm>
            <a:off x="182880" y="1874519"/>
            <a:ext cx="2871216" cy="14996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TextBox 400"/>
          <p:cNvSpPr txBox="1"/>
          <p:nvPr/>
        </p:nvSpPr>
        <p:spPr>
          <a:xfrm>
            <a:off x="338328" y="2002536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F0032"/>
                </a:solidFill>
                <a:latin typeface="MTS Text"/>
              </a:defRPr>
            </a:pPr>
            <a:r>
              <a:t>МОДЕЛЬ СПРОСА</a:t>
            </a:r>
          </a:p>
        </p:txBody>
      </p:sp>
      <p:sp>
        <p:nvSpPr>
          <p:cNvPr id="402" name="TextBox 401"/>
          <p:cNvSpPr txBox="1"/>
          <p:nvPr/>
        </p:nvSpPr>
        <p:spPr>
          <a:xfrm>
            <a:off x="338328" y="2350008"/>
            <a:ext cx="25603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14141"/>
                </a:solidFill>
                <a:latin typeface="MTS Wide Medium"/>
              </a:defRPr>
            </a:pPr>
            <a:r>
              <a:t>1 LTE-сектор</a:t>
            </a:r>
          </a:p>
        </p:txBody>
      </p:sp>
      <p:sp>
        <p:nvSpPr>
          <p:cNvPr id="403" name="TextBox 402"/>
          <p:cNvSpPr txBox="1"/>
          <p:nvPr/>
        </p:nvSpPr>
        <p:spPr>
          <a:xfrm>
            <a:off x="338328" y="2807208"/>
            <a:ext cx="2560320" cy="493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13 пользователей с данными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104 Мбит/с полезного DL</a:t>
            </a:r>
          </a:p>
        </p:txBody>
      </p:sp>
      <p:sp>
        <p:nvSpPr>
          <p:cNvPr id="404" name="Rounded Rectangle 403"/>
          <p:cNvSpPr/>
          <p:nvPr/>
        </p:nvSpPr>
        <p:spPr>
          <a:xfrm>
            <a:off x="3136392" y="1874519"/>
            <a:ext cx="2871216" cy="14996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TextBox 404"/>
          <p:cNvSpPr txBox="1"/>
          <p:nvPr/>
        </p:nvSpPr>
        <p:spPr>
          <a:xfrm>
            <a:off x="3291840" y="2002536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F0032"/>
                </a:solidFill>
                <a:latin typeface="MTS Text"/>
              </a:defRPr>
            </a:pPr>
            <a:r>
              <a:t>РАЗМЕЩЕНИЕ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3291840" y="2350008"/>
            <a:ext cx="25603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14141"/>
                </a:solidFill>
                <a:latin typeface="MTS Wide Medium"/>
              </a:defRPr>
            </a:pPr>
            <a:r>
              <a:t>32 антенны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3291840" y="2807208"/>
            <a:ext cx="2560320" cy="493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B7 при n=3: 96,37%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Две независимые MIMO-ветви</a:t>
            </a:r>
          </a:p>
        </p:txBody>
      </p:sp>
      <p:sp>
        <p:nvSpPr>
          <p:cNvPr id="408" name="Rounded Rectangle 407"/>
          <p:cNvSpPr/>
          <p:nvPr/>
        </p:nvSpPr>
        <p:spPr>
          <a:xfrm>
            <a:off x="6089904" y="1874519"/>
            <a:ext cx="2871216" cy="14996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9" name="TextBox 408"/>
          <p:cNvSpPr txBox="1"/>
          <p:nvPr/>
        </p:nvSpPr>
        <p:spPr>
          <a:xfrm>
            <a:off x="6245352" y="2002536"/>
            <a:ext cx="2560320" cy="22860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180"/>
              </a:lnSpc>
              <a:spcBef>
                <a:spcPts val="0"/>
              </a:spcBef>
              <a:spcAft>
                <a:spcPts val="0"/>
              </a:spcAft>
              <a:defRPr sz="1000">
                <a:solidFill>
                  <a:srgbClr val="FF0032"/>
                </a:solidFill>
                <a:latin typeface="MTS Text"/>
              </a:defRPr>
            </a:pPr>
            <a:r>
              <a:t>ДЕЛЕНИЕ МОЩНОСТИ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6245352" y="2350008"/>
            <a:ext cx="2560320" cy="3840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36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414141"/>
                </a:solidFill>
                <a:latin typeface="MTS Wide Medium"/>
              </a:defRPr>
            </a:pPr>
            <a:r>
              <a:t>2 + 2 + 4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6245352" y="2807208"/>
            <a:ext cx="2560320" cy="4937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Доли 1/4, 1/8 и 1/16</a:t>
            </a:r>
          </a:p>
          <a:p>
            <a:pPr algn="l">
              <a:lnSpc>
                <a:spcPts val="1321"/>
              </a:lnSpc>
              <a:spcBef>
                <a:spcPts val="0"/>
              </a:spcBef>
              <a:spcAft>
                <a:spcPts val="0"/>
              </a:spcAft>
              <a:defRPr sz="1120">
                <a:solidFill>
                  <a:srgbClr val="414141"/>
                </a:solidFill>
                <a:latin typeface="MTS Text"/>
              </a:defRPr>
            </a:pPr>
            <a:r>
              <a:t>в каждой группе</a:t>
            </a:r>
          </a:p>
        </p:txBody>
      </p:sp>
      <p:sp>
        <p:nvSpPr>
          <p:cNvPr id="412" name="Rounded Rectangle 411"/>
          <p:cNvSpPr/>
          <p:nvPr/>
        </p:nvSpPr>
        <p:spPr>
          <a:xfrm>
            <a:off x="182880" y="3575304"/>
            <a:ext cx="8778240" cy="11704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3" name="TextBox 412"/>
          <p:cNvSpPr txBox="1"/>
          <p:nvPr/>
        </p:nvSpPr>
        <p:spPr>
          <a:xfrm>
            <a:off x="384048" y="3739896"/>
            <a:ext cx="8366760" cy="30175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2005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414141"/>
                </a:solidFill>
                <a:latin typeface="MTS Wide Medium"/>
              </a:defRPr>
            </a:pPr>
            <a:r>
              <a:t>Ёмкость → архитектура → RF-бюджет → покрытие → спецификация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384048" y="4242816"/>
            <a:ext cx="8366760" cy="3657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414141"/>
                </a:solidFill>
                <a:latin typeface="MTS Text"/>
              </a:defRPr>
            </a:pPr>
            <a:r>
              <a:t>SINR, RSRQ и C/I рассчитаны при явных параметрах помех и EPRE. UL и параметры поставки</a:t>
            </a:r>
          </a:p>
          <a:p>
            <a:pPr algn="l">
              <a:lnSpc>
                <a:spcPts val="1297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414141"/>
                </a:solidFill>
                <a:latin typeface="MTS Text"/>
              </a:defRPr>
            </a:pPr>
            <a:r>
              <a:t>проверяются отдельно; управляемые удалённые модули в состав пассивной сети не входят.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463</TotalTime>
  <Words>448</Words>
  <Application>Microsoft Macintosh PowerPoint</Application>
  <PresentationFormat>Экран (16:9)</PresentationFormat>
  <Paragraphs>215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7" baseType="lpstr">
      <vt:lpstr>Calibri</vt:lpstr>
      <vt:lpstr>Inter Medium</vt:lpstr>
      <vt:lpstr>MTS Wide</vt:lpstr>
      <vt:lpstr>MTS Text</vt:lpstr>
      <vt:lpstr>MTS Wide Medium</vt:lpstr>
      <vt:lpstr>MTS Text Medium</vt:lpstr>
      <vt:lpstr>Inter</vt:lpstr>
      <vt:lpstr>Arial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Xenia Obukh</cp:lastModifiedBy>
  <cp:revision>4</cp:revision>
  <dcterms:modified xsi:type="dcterms:W3CDTF">2026-10-12T19:45:42Z</dcterms:modified>
  <dc:title>Радиосеть первого этажа ТРК «Эльбрус»</dc:title>
  <dc:creator>Павел Абалаков</dc:creator>
  <dc:subject>МТС Engineer Hack 2026 · Радио</dc:subject>
  <dc:description/>
</cp:coreProperties>
</file>