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9728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798064"/>
            <a:ext cx="3886200" cy="42062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81381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61264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II место на Всероссийском хакатоне связи (2025)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988819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100584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52928"/>
            <a:ext cx="2560320" cy="32918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52928"/>
            <a:ext cx="2560320" cy="32918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52928"/>
            <a:ext cx="2560320" cy="32918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438912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5778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Секторы: 25 → 2 (k=1,10) → 1 (k(1)=1)</a:t>
            </a:r>
          </a:p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η=3,1505922; u=0,8.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33088"/>
            <a:ext cx="356616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89120"/>
            <a:ext cx="356616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82880" y="4873752"/>
            <a:ext cx="7772400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100584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210311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93192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5661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74336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74336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91071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91071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607808" y="2889504"/>
            <a:ext cx="1170431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607808" y="2889504"/>
            <a:ext cx="1170431" cy="52120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3832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65760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82880" y="4873752"/>
            <a:ext cx="7772400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100584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и качество DL: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результаты условных сценариев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365759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468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56032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703320"/>
            <a:ext cx="5074920" cy="42062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L2 / B7: SINR ≥17 — 96,75%</a:t>
            </a:r>
          </a:p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RSRQ &gt;−12 — 97,59%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0" y="4279392"/>
            <a:ext cx="50749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38"/>
              </a:lnSpc>
              <a:spcBef>
                <a:spcPts val="0"/>
              </a:spcBef>
              <a:spcAft>
                <a:spcPts val="0"/>
              </a:spcAft>
              <a:defRPr sz="1050">
                <a:solidFill>
                  <a:srgbClr val="414141"/>
                </a:solidFill>
                <a:latin typeface="MTS Text"/>
              </a:defRPr>
            </a:pPr>
            <a:r>
              <a:t>DCS: C/I &gt;20 — 96,53% при I=−70 дБм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82880" y="4873752"/>
            <a:ext cx="7772400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L2: P1, n=2,5; NF=7 дБ, β=0,5, ρ=0,8; I=−115 дБм/15 кГц. DCS: I в полосе 200 кГц.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100584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88920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88920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88920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97679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97679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97679"/>
            <a:ext cx="2560320" cy="374904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82880" y="4873752"/>
            <a:ext cx="7772400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182880"/>
            <a:ext cx="1243584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1005840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873752"/>
            <a:ext cx="795528" cy="201167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r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43784"/>
            <a:ext cx="2560320" cy="4754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43784"/>
            <a:ext cx="2560320" cy="4754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6517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475488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43784"/>
            <a:ext cx="2560320" cy="475488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93192"/>
          </a:xfrm>
          <a:prstGeom prst="rect">
            <a:avLst/>
          </a:prstGeom>
          <a:noFill/>
        </p:spPr>
        <p:txBody>
          <a:bodyPr wrap="none" lIns="0" rIns="0" tIns="36576" bIns="54864" anchor="t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402336"/>
          </a:xfrm>
          <a:prstGeom prst="rect">
            <a:avLst/>
          </a:prstGeom>
          <a:noFill/>
        </p:spPr>
        <p:txBody>
          <a:bodyPr wrap="none" lIns="0" rIns="0" tIns="18288" bIns="18288" anchor="t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SINR, RSRQ и C/I рассчитаны при явных параметрах помех и EPRE.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пассивной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