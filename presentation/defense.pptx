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 зовут Павел Абалаков. Учусь в УрТИСИ по направлению «Инфокоммуникационные технологии и системы связи». В профиле указаны второе место на хакатоне связи 2025 года и проект Payment OCR. Моя текущая роль: [УКАЗАТЬ РОЛЬ]. Личный вклад в проект: [УКАЗАТЬ ВКЛАД]. Профессиональные интересы: [УКАЗАТЬ ИНТЕРЕСЫ].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онлайн-этапе я считал 80 процентов прогнозных пользователей одновременно активными: это 288 пользователей и 2304 мегабита в секунду. Новые вводные разделяют состояние RRC Connected и наличие данных в буфере. Из 360 прогнозных пользователей получаются 126 RRC-подключений и 12,6 буферных пользователей. Округляю вверх до 13: спрос составляет 104 мегабита в секунду. Три несущие без агрегации обслуживают шесть, четыре и три пользователя. Выбираю один общий пул. Коэффициент пространственного перекоса внутри него равен единице; при сохранении прежнего правила получились бы два сектора. Запаса на четырнадцатого пользователя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построен по предоставленному DWG в исходном масштабе. После сравнения вариантов выбраны 32 двухпортовые In06 и четыре распределительные группы. Это один LTE-пул на каждом диапазоне, а не четыре независимые ячейки. Две MIMO-ветви проходят отдельно до двух портов каждой антенны. На каждой ветви гибриды объединяют операторов, триплексеры объединяют диапазоны, а зональные делители распределяют мощность между восемью антеннами. Существующая ВК не найдена: размещение головного узла в части 104.2 является моим проектным допущением. Помещение 89 не локализовано. Его площадь полностью учитывается как непокрытая. Метраж трасс уменьшился примерно на 41 процент относительно начального варианта.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Рассчитаны 384 сочетания антенны, диапазона и расстояния, а также карта с шагом 25 сантиметров. В модели учитываются кабели, делители, высота и пересечения стен. Пилот 23 дБм условно нормирован на CRS одного порта; определение мощности в задании неоднозначно. На B7 номинальный результат составляет 95.77 процента от заданных 2100 квадратных метров. Дополнительные три децибела потерь снижают его до 93.65 процента. Худший отдельный путь на 20 метрах даёт -92.69 дБм; площадь оценивается по всем антеннам. Это сценарный прогноз, а не измерения. RSRP не подтверждает SINR, RSRQ или скорость. Для DCS отдельно проверены условные мощности BCCH, но не внешний C/I.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Спецификация формируется из той же структуры, что схемы и трассы. В ней только позиции предоставленного перечня. Учтены 32 антенны, шесть гибридов, восемь триплексеров, девять двухвыходных и шестнадцать четырёхвыходных делителей. Кабель с резервом: 794 метра семь восьмых и 399 метров одна вторая. На итоговой проверке нулевые фидерные связи заменены шестью местными джамперами. Всего 115 джамперов, включая 12 резервных входных. Для свободных портов нужны нагрузки, отсутствующие в перечне; пожарная модификация и исполнения разъёмов также не подтверждены.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главных решения — общий пул с новой моделью спроса, две раздельные MIMO-ветви и совместный выбор расположения узла и дерева распределения. Числа согласованы и воспроизводимы. Номинальная модель проходит RSRP, но запас к неопределённости недостаточен. Полное соответствие заданию не доказано: помеховые показатели неизвестны, пассивная схема не обеспечивает требуемое удалённое регулирование, часть комплектации не подтверждена. Эти ограничения отражены в документах, а не скрыты за проходящим номинальным результатом.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Павел Абалаков · Indoor Radio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78992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64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324D"/>
                </a:solidFill>
                <a:latin typeface="DejaVu Sans"/>
              </a:defRPr>
            </a:pPr>
            <a:r>
              <a:t>УрТИСИ · 11.03.02 · Инфокоммуникационные технологии и</a:t>
            </a:r>
          </a:p>
          <a:p>
            <a:pPr>
              <a:lnSpc>
                <a:spcPts val="264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324D"/>
                </a:solidFill>
                <a:latin typeface="DejaVu Sans"/>
              </a:defRPr>
            </a:pPr>
            <a:r>
              <a:t>системы связи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23160"/>
            <a:ext cx="10789920" cy="731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III курс по профилю GitHub; II место — хакатон связи,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10789920" cy="640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7324D"/>
                </a:solidFill>
                <a:latin typeface="DejaVu Sans"/>
              </a:defRPr>
            </a:pPr>
            <a:r>
              <a:t>Проект: Svyaz Hack Payment OCR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solidFill>
            <a:srgbClr val="FF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51560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85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7324D"/>
                </a:solidFill>
                <a:latin typeface="DejaVu Sans"/>
              </a:defRPr>
            </a:pPr>
            <a:r>
              <a:t>Роль: [заполнить]</a:t>
            </a:r>
          </a:p>
          <a:p>
            <a:pPr>
              <a:lnSpc>
                <a:spcPts val="2185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7324D"/>
                </a:solidFill>
                <a:latin typeface="DejaVu Sans"/>
              </a:defRPr>
            </a:pPr>
            <a:r>
              <a:t>Вклад: [заполнить]</a:t>
            </a:r>
          </a:p>
          <a:p>
            <a:pPr>
              <a:lnSpc>
                <a:spcPts val="2185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7324D"/>
                </a:solidFill>
                <a:latin typeface="DejaVu Sans"/>
              </a:defRPr>
            </a:pPr>
            <a:r>
              <a:t>Интересы: [заполнить]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Новые вводные: 288 → 13 пользователей с данными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97280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10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7324D"/>
                </a:solidFill>
                <a:latin typeface="DejaVu Sans"/>
              </a:defRPr>
            </a:pPr>
            <a:r>
              <a:t>360 × 35% RRC × 10% buffer = 12,6 → 13 UE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514600"/>
            <a:ext cx="5303520" cy="118872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303520" cy="118872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484632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74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24D"/>
                </a:solidFill>
                <a:latin typeface="DejaVu Sans"/>
              </a:defRPr>
            </a:pPr>
            <a:r>
              <a:t>104 Мбит/с вместо 2304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84632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74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24D"/>
                </a:solidFill>
                <a:latin typeface="DejaVu Sans"/>
              </a:defRPr>
            </a:pPr>
            <a:r>
              <a:t>6 + 4 + 3 UE без 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062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74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24D"/>
                </a:solidFill>
                <a:latin typeface="DejaVu Sans"/>
              </a:defRPr>
            </a:pPr>
            <a:r>
              <a:t>Один общий пул B3/B1/B7: k(1)=1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66360"/>
            <a:ext cx="10972800" cy="868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7324D"/>
                </a:solidFill>
                <a:latin typeface="DejaVu Sans"/>
              </a:defRPr>
            </a:pPr>
            <a:r>
              <a:t>Прежнее правило k=1,10 → 2 сектора.</a:t>
            </a:r>
          </a:p>
          <a:p>
            <a:pPr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7324D"/>
                </a:solidFill>
                <a:latin typeface="DejaVu Sans"/>
              </a:defRPr>
            </a:pPr>
            <a:r>
              <a:t>Запаса на 14-го UE без CA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32 антенны · 4 группы · 2 независимые MIMO-ветви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3</a:t>
            </a:r>
          </a:p>
        </p:txBody>
      </p:sp>
      <p:pic>
        <p:nvPicPr>
          <p:cNvPr id="7" name="Picture 6" descr="final-lay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976" y="1188720"/>
            <a:ext cx="3122926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63440" y="1463040"/>
            <a:ext cx="69037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324D"/>
                </a:solidFill>
                <a:latin typeface="DejaVu Sans"/>
              </a:defRPr>
            </a:pPr>
            <a:r>
              <a:t>Z1–Z4 — распределение одного пула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60320"/>
            <a:ext cx="6903720" cy="1325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7324D"/>
                </a:solidFill>
                <a:latin typeface="DejaVu Sans"/>
              </a:defRPr>
            </a:pPr>
            <a:r>
              <a:t>PC221 → PC211 → PC250 → PC252</a:t>
            </a:r>
          </a:p>
          <a:p>
            <a:pPr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7324D"/>
                </a:solidFill>
                <a:latin typeface="DejaVu Sans"/>
              </a:defRPr>
            </a:pPr>
            <a:r>
              <a:t>Отдельно для M1 и M2, до портов P1/P2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69037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7324D"/>
                </a:solidFill>
                <a:latin typeface="DejaVu Sans"/>
              </a:defRPr>
            </a:pPr>
            <a:r>
              <a:t>ВК в части 104.2 — проектное допущение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5120640"/>
            <a:ext cx="69037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Помещение 89 считается непокрытым.</a:t>
            </a:r>
          </a:p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Фидеры: 1084 м; −41,4% к исходному варианту.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RSRP: номинал проходит, запас к потерям недостаточен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4</a:t>
            </a:r>
          </a:p>
        </p:txBody>
      </p:sp>
      <p:pic>
        <p:nvPicPr>
          <p:cNvPr id="7" name="Picture 6" descr="rsrp-2600-wal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339" y="1143000"/>
            <a:ext cx="3624201" cy="5166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63440" y="1371600"/>
            <a:ext cx="6949440" cy="731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34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7324D"/>
                </a:solidFill>
                <a:latin typeface="DejaVu Sans"/>
              </a:defRPr>
            </a:pPr>
            <a:r>
              <a:t>B7: 95.77% от 2100 м²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6949440" cy="731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B22C35"/>
                </a:solidFill>
                <a:latin typeface="DejaVu Sans"/>
              </a:defRPr>
            </a:pPr>
            <a:r>
              <a:t>+3 дБ RF-потерь → 93.65%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474720"/>
            <a:ext cx="6949440" cy="1005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384 RF-точки; 35007 ячеек карты</a:t>
            </a:r>
          </a:p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Стены 15 дБ; колонны / фасад 30 дБ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663440"/>
            <a:ext cx="6949440" cy="1097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P1: 23 дБм — условная сумма CRS на порту.</a:t>
            </a:r>
          </a:p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24D"/>
                </a:solidFill>
                <a:latin typeface="DejaVu Sans"/>
              </a:defRPr>
            </a:pPr>
            <a:r>
              <a:t>SINR / RSRQ и фактические KPI не подтверждены.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Спецификация связана со схемами и трассами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972800" cy="10972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32 In06 · 6 PC221 · 8 PC211</a:t>
            </a:r>
          </a:p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9 PC250 · 16 PC252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10972800" cy="7772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74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24D"/>
                </a:solidFill>
                <a:latin typeface="DejaVu Sans"/>
              </a:defRPr>
            </a:pPr>
            <a:r>
              <a:t>Закупочный метраж: 7/8 — 794 м; 1/2 — 399 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03320"/>
            <a:ext cx="1097280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645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7324D"/>
                </a:solidFill>
                <a:latin typeface="DejaVu Sans"/>
              </a:defRPr>
            </a:pPr>
            <a:r>
              <a:t>115 джамперов: 12 резервных; 6 местных</a:t>
            </a:r>
          </a:p>
          <a:p>
            <a:pPr>
              <a:lnSpc>
                <a:spcPts val="2645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7324D"/>
                </a:solidFill>
                <a:latin typeface="DejaVu Sans"/>
              </a:defRPr>
            </a:pPr>
            <a:r>
              <a:t>Разъёмы: 1/2 — 112; 7/8 — 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074920"/>
            <a:ext cx="10972800" cy="868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22C35"/>
                </a:solidFill>
                <a:latin typeface="DejaVu Sans"/>
              </a:defRPr>
            </a:pPr>
            <a:r>
              <a:t>Открытые вопросы комплектации: нагрузки, пол разъёмов,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22C35"/>
                </a:solidFill>
                <a:latin typeface="DejaVu Sans"/>
              </a:defRPr>
            </a:pPr>
            <a:r>
              <a:t>интерфейс In06 / БС, пожарное исполнение.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8229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99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7324D"/>
                </a:solidFill>
                <a:latin typeface="DejaVu Sans"/>
              </a:defRPr>
            </a:pPr>
            <a:r>
              <a:t>Три решения и пределы доказанного результата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789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03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778"/>
                </a:solidFill>
                <a:latin typeface="DejaVu Sans"/>
              </a:defRPr>
            </a:pPr>
            <a:r>
              <a:t>МТС Engineer Hack 2026 · Радио · Расчётный вариант · 13.10.2026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24D"/>
                </a:solidFill>
                <a:latin typeface="DejaVu Sans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0972800" cy="1005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24D"/>
                </a:solidFill>
                <a:latin typeface="DejaVu Sans"/>
              </a:defRPr>
            </a:pPr>
            <a:r>
              <a:t>1. Общий пул и последовательные доли RRC / buffer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24D"/>
                </a:solidFill>
                <a:latin typeface="DejaVu Sans"/>
              </a:defRPr>
            </a:pPr>
            <a:r>
              <a:t>2. Раздельные MIMO-тракты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324D"/>
                </a:solidFill>
                <a:latin typeface="DejaVu Sans"/>
              </a:defRPr>
            </a:pPr>
            <a:r>
              <a:t>3. Совместный выбор ВК и дерева распределения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54680"/>
            <a:ext cx="11064240" cy="2560320"/>
          </a:xfrm>
          <a:prstGeom prst="rect">
            <a:avLst/>
          </a:prstGeom>
          <a:solidFill>
            <a:srgbClr val="FF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0607040" cy="2011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Номинальный RSRP проходит; неблагоприятные сценарии — нет.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RSRQ / SINR / C/I / UL не подтверждены.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Пассивная схема не выполняет удалённую регулировку.</a:t>
            </a:r>
          </a:p>
          <a:p>
            <a:pPr>
              <a:lnSpc>
                <a:spcPts val="241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324D"/>
                </a:solidFill>
                <a:latin typeface="DejaVu Sans"/>
              </a:defRPr>
            </a:pPr>
            <a:r>
              <a:t>Полное соответствие ТЗ не установлено.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