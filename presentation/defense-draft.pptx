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https://github.com/abalakovpa/abalakovpa, прочитан 12.10.2026. Факты из профиля; актуальность третьего курса подтвердить. 25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Объяснить изменение k(1)=1: пространственный перекос внутри одного пула не повышает суммарный спрос. Не заявлять запас на временные пики.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секунд. План — кандидат, а не утверждённое размещение. Точки привязаны к меткам помещений. Ограничения проговорить.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P1 — условное суммирование мощности 2N_PRB CRS-поднесущих на одном порту; отсутствует определение в задании. Расчёт n=2.5 без калибровки. Не выдавать уровни за измерения.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Количества проекта условны; PASсивная схема не выполняет буквальное требование управляемых удалённых модулей. Не считать комплект закупочным.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секунд; суммарно 240 секунд. Это черновик защиты со статусом работ, не окончательная презентация выполненного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Павел Абалаков · Indoor Radio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УрТИСИ · третий курс</a:t>
            </a:r>
          </a:p>
          <a:p>
            <a:pPr>
              <a:spcAft>
                <a:spcPts val="1800"/>
              </a:spcAft>
              <a:defRPr sz="2000"/>
            </a:pPr>
            <a:r>
              <a:t>11.03.02 «Инфокоммуникационные технологии и системы связи»</a:t>
            </a:r>
          </a:p>
          <a:p>
            <a:pPr>
              <a:spcAft>
                <a:spcPts val="1800"/>
              </a:spcAft>
              <a:defRPr sz="2000"/>
            </a:pPr>
            <a:r>
              <a:t>II место: Всероссийский хакатон связи, 2025</a:t>
            </a:r>
          </a:p>
          <a:p>
            <a:pPr>
              <a:spcAft>
                <a:spcPts val="1800"/>
              </a:spcAft>
              <a:defRPr sz="2000"/>
            </a:pPr>
            <a:r>
              <a:t>Проект: Svyaz Hack Payment OCR</a:t>
            </a:r>
          </a:p>
          <a:p>
            <a:pPr>
              <a:spcAft>
                <a:spcPts val="1800"/>
              </a:spcAft>
              <a:defRPr sz="2000"/>
            </a:pPr>
            <a:r>
              <a:t>[Дополнить: текущая роль и профессиональные интересы]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Новые вводные меняют модель спроса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360 прогнозных 4G × 35% RRC × 10% buffer = 12,6 → 13 UE</a:t>
            </a:r>
          </a:p>
          <a:p>
            <a:pPr>
              <a:spcAft>
                <a:spcPts val="1800"/>
              </a:spcAft>
              <a:defRPr sz="2000"/>
            </a:pPr>
            <a:r>
              <a:t>DL: 13 × 8 = 104 Мбит/с вместо 2304</a:t>
            </a:r>
          </a:p>
          <a:p>
            <a:pPr>
              <a:spcAft>
                <a:spcPts val="1800"/>
              </a:spcAft>
              <a:defRPr sz="2000"/>
            </a:pPr>
            <a:r>
              <a:t>B3/B1/B7: 6 + 4 + 3 = 13 UE без CA</a:t>
            </a:r>
          </a:p>
          <a:p>
            <a:pPr>
              <a:spcAft>
                <a:spcPts val="1800"/>
              </a:spcAft>
              <a:defRPr sz="2000"/>
            </a:pPr>
            <a:r>
              <a:t>Один общий пул — кандидат; прежнее правило k=1,10 даёт два</a:t>
            </a:r>
          </a:p>
          <a:p>
            <a:pPr>
              <a:spcAft>
                <a:spcPts val="1800"/>
              </a:spcAft>
              <a:defRPr sz="2000"/>
            </a:pPr>
            <a:r>
              <a:t>Распределение антенн не создаёт новые секторы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Проект на фактической CAD-подложке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46 помещений, итог экспликации 2097,06 м²</a:t>
            </a:r>
          </a:p>
          <a:p>
            <a:pPr>
              <a:spcAft>
                <a:spcPts val="1800"/>
              </a:spcAft>
              <a:defRPr sz="2000"/>
            </a:pPr>
            <a:r>
              <a:t>32 In06: схема после расчётного сравнения</a:t>
            </a:r>
          </a:p>
          <a:p>
            <a:pPr>
              <a:spcAft>
                <a:spcPts val="1800"/>
              </a:spcAft>
              <a:defRPr sz="2000"/>
            </a:pPr>
            <a:r>
              <a:t>4 группы фидеров, 2 независимые MIMO-ветви</a:t>
            </a:r>
          </a:p>
          <a:p>
            <a:pPr>
              <a:spcAft>
                <a:spcPts val="1800"/>
              </a:spcAft>
              <a:defRPr sz="2000"/>
            </a:pPr>
            <a:r>
              <a:t>Проектная ВК: часть 104.2; собственное допущение</a:t>
            </a:r>
          </a:p>
          <a:p>
            <a:pPr>
              <a:spcAft>
                <a:spcPts val="1800"/>
              </a:spcAft>
              <a:defRPr sz="2000"/>
            </a:pPr>
            <a:r>
              <a:t>Помещение 89 ещё не локализовано</a:t>
            </a:r>
          </a:p>
        </p:txBody>
      </p:sp>
      <p:pic>
        <p:nvPicPr>
          <p:cNvPr id="4" name="Picture 3" descr="candidate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51560"/>
            <a:ext cx="3441831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RSRP: расчёт и существенные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384 RF-точек и 35522 ячеек карты; шаг 0.25 м</a:t>
            </a:r>
          </a:p>
          <a:p>
            <a:pPr>
              <a:spcAft>
                <a:spcPts val="1800"/>
              </a:spcAft>
              <a:defRPr sz="2000"/>
            </a:pPr>
            <a:r>
              <a:t>P1, n=2,5, стены/колонны: B3/B1/B7 — 96.59%/96.58%/96.58%</a:t>
            </a:r>
          </a:p>
          <a:p>
            <a:pPr>
              <a:spcAft>
                <a:spcPts val="1800"/>
              </a:spcAft>
              <a:defRPr sz="2000"/>
            </a:pPr>
            <a:r>
              <a:t>B7 с дополнительными 3 дБ потерь: 96.51%</a:t>
            </a:r>
          </a:p>
          <a:p>
            <a:pPr>
              <a:spcAft>
                <a:spcPts val="1800"/>
              </a:spcAft>
              <a:defRPr sz="2000"/>
            </a:pPr>
            <a:r>
              <a:t>45,52 м² помещения 89 считаются непокрытыми</a:t>
            </a:r>
          </a:p>
          <a:p>
            <a:pPr>
              <a:spcAft>
                <a:spcPts val="1800"/>
              </a:spcAft>
              <a:defRPr sz="2000"/>
            </a:pPr>
            <a:r>
              <a:t>Прогноз модели; SINR, RSRQ и фактические KPI не подтверждены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Спецификация связана с деревом 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Только позиции из предоставленного перечня</a:t>
            </a:r>
          </a:p>
          <a:p>
            <a:pPr>
              <a:spcAft>
                <a:spcPts val="1800"/>
              </a:spcAft>
              <a:defRPr sz="2000"/>
            </a:pPr>
            <a:r>
              <a:t>32 антенн; 16 PC252; 0 PC251; 8 PC211; 6 PC221; 9 PC250</a:t>
            </a:r>
          </a:p>
          <a:p>
            <a:pPr>
              <a:spcAft>
                <a:spcPts val="1800"/>
              </a:spcAft>
              <a:defRPr sz="2000"/>
            </a:pPr>
            <a:r>
              <a:t>Фидеры без резерва: 1/2 — 162.3 м; 7/8 — 1241.4 м</a:t>
            </a:r>
          </a:p>
          <a:p>
            <a:pPr>
              <a:spcAft>
                <a:spcPts val="1800"/>
              </a:spcAft>
              <a:defRPr sz="2000"/>
            </a:pPr>
            <a:r>
              <a:t>В закупочный метраж добавлено 10% отдельно</a:t>
            </a:r>
          </a:p>
          <a:p>
            <a:pPr>
              <a:spcAft>
                <a:spcPts val="1800"/>
              </a:spcAft>
              <a:defRPr sz="2000"/>
            </a:pPr>
            <a:r>
              <a:t>Пожарная модификация и component losses требуют уточнения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Три решения и контроль готовности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Один общий LTE-пул: сохранение ёмкости без собственных межсекторных помех</a:t>
            </a:r>
          </a:p>
          <a:p>
            <a:pPr>
              <a:spcAft>
                <a:spcPts val="1800"/>
              </a:spcAft>
              <a:defRPr sz="2000"/>
            </a:pPr>
            <a:r>
              <a:t>Два раздельных MIMO-тракта до каждого In06</a:t>
            </a:r>
          </a:p>
          <a:p>
            <a:pPr>
              <a:spcAft>
                <a:spcPts val="1800"/>
              </a:spcAft>
              <a:defRPr sz="2000"/>
            </a:pPr>
            <a:r>
              <a:t>Трассы и спецификация рассчитываются из одной структуры</a:t>
            </a:r>
          </a:p>
          <a:p>
            <a:pPr>
              <a:spcAft>
                <a:spcPts val="1800"/>
              </a:spcAft>
              <a:defRPr sz="2000"/>
            </a:pPr>
            <a:r>
              <a:t>Приняты допущения: ВК в 104.2, нормировка пилота, параметры компонентов и модель стен</a:t>
            </a:r>
          </a:p>
          <a:p>
            <a:pPr>
              <a:spcAft>
                <a:spcPts val="1800"/>
              </a:spcAft>
              <a:defRPr sz="2000"/>
            </a:pPr>
            <a:r>
              <a:t>Рабочий проект. Полное соответствие ТЗ пока не заявляется.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