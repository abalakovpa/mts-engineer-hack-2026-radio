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10"/>
  </p:notesMasterIdLst>
  <p:sldIdLst>
    <p:sldId id="258" r:id="rId2"/>
    <p:sldId id="261" r:id="rId3"/>
    <p:sldId id="263" r:id="rId4"/>
    <p:sldId id="266" r:id="rId5"/>
    <p:sldId id="269" r:id="rId6"/>
    <p:sldId id="270" r:id="rId7"/>
  </p:sldIdLst>
  <p:sldSz cx="9144000" cy="5143500" type="screen16x9"/>
  <p:notesSz cx="6858000" cy="9144000"/>
  <p:embeddedFontLst>
    <p:embeddedFont>
      <p:font typeface="Inter" panose="02000503000000020004" pitchFamily="2" charset="0"/>
      <p:regular r:id="rId11"/>
      <p:bold r:id="rId12"/>
      <p:italic r:id="rId13"/>
      <p:boldItalic r:id="rId14"/>
    </p:embeddedFont>
    <p:embeddedFont>
      <p:font typeface="Inter Medium" panose="02000503000000020004" pitchFamily="2" charset="0"/>
      <p:regular r:id="rId15"/>
      <p:bold r:id="rId16"/>
      <p:italic r:id="rId17"/>
      <p:boldItalic r:id="rId18"/>
    </p:embeddedFont>
    <p:embeddedFont>
      <p:font typeface="MTS Text" panose="020B0306020102020303" pitchFamily="34" charset="0"/>
      <p:regular r:id="rId19"/>
      <p:bold r:id="rId20"/>
    </p:embeddedFont>
    <p:embeddedFont>
      <p:font typeface="MTS Text Medium" panose="020B0306020102020303" pitchFamily="34" charset="0"/>
      <p:regular r:id="rId21"/>
    </p:embeddedFont>
    <p:embeddedFont>
      <p:font typeface="MTS Wide" panose="020B0306020102020303" pitchFamily="34" charset="0"/>
      <p:regular r:id="rId22"/>
      <p:bold r:id="rId23"/>
    </p:embeddedFont>
    <p:embeddedFont>
      <p:font typeface="MTS Wide Medium" panose="020B0306020102020303" pitchFamily="34" charset="0"/>
      <p:regular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0" userDrawn="1">
          <p15:clr>
            <a:srgbClr val="747775"/>
          </p15:clr>
        </p15:guide>
        <p15:guide id="2" pos="113">
          <p15:clr>
            <a:srgbClr val="747775"/>
          </p15:clr>
        </p15:guide>
        <p15:guide id="3" orient="horz" pos="3127">
          <p15:clr>
            <a:srgbClr val="747775"/>
          </p15:clr>
        </p15:guide>
        <p15:guide id="4" pos="5647">
          <p15:clr>
            <a:srgbClr val="747775"/>
          </p15:clr>
        </p15:guide>
        <p15:guide id="5" pos="2880">
          <p15:clr>
            <a:srgbClr val="747775"/>
          </p15:clr>
        </p15:guide>
        <p15:guide id="6" pos="2852">
          <p15:clr>
            <a:srgbClr val="747775"/>
          </p15:clr>
        </p15:guide>
        <p15:guide id="7" pos="2908">
          <p15:clr>
            <a:srgbClr val="747775"/>
          </p15:clr>
        </p15:guide>
        <p15:guide id="8" orient="horz" pos="1251">
          <p15:clr>
            <a:srgbClr val="747775"/>
          </p15:clr>
        </p15:guide>
        <p15:guide id="9" pos="2014">
          <p15:clr>
            <a:srgbClr val="747775"/>
          </p15:clr>
        </p15:guide>
        <p15:guide id="10" pos="3903">
          <p15:clr>
            <a:srgbClr val="747775"/>
          </p15:clr>
        </p15:guide>
        <p15:guide id="11" orient="horz" pos="1009">
          <p15:clr>
            <a:srgbClr val="747775"/>
          </p15:clr>
        </p15:guide>
        <p15:guide id="13" orient="horz" pos="452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08B8B5D-C623-46D9-ADCC-D26623CE91F4}">
  <a:tblStyle styleId="{408B8B5D-C623-46D9-ADCC-D26623CE91F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/>
    <p:restoredTop sz="94648"/>
  </p:normalViewPr>
  <p:slideViewPr>
    <p:cSldViewPr snapToGrid="0">
      <p:cViewPr varScale="1">
        <p:scale>
          <a:sx n="156" d="100"/>
          <a:sy n="156" d="100"/>
        </p:scale>
        <p:origin x="544" y="168"/>
      </p:cViewPr>
      <p:guideLst>
        <p:guide orient="horz" pos="100"/>
        <p:guide pos="113"/>
        <p:guide orient="horz" pos="3127"/>
        <p:guide pos="5647"/>
        <p:guide pos="2880"/>
        <p:guide pos="2852"/>
        <p:guide pos="2908"/>
        <p:guide orient="horz" pos="1251"/>
        <p:guide pos="2014"/>
        <p:guide pos="3903"/>
        <p:guide orient="horz" pos="1009"/>
        <p:guide orient="horz" pos="4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10" Type="http://schemas.openxmlformats.org/officeDocument/2006/relationships/notesMaster" Target="notesMasters/notesMaster1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font" Target="fonts/font5.fntdata"/><Relationship Id="rId16" Type="http://schemas.openxmlformats.org/officeDocument/2006/relationships/font" Target="fonts/font6.fntdata"/><Relationship Id="rId17" Type="http://schemas.openxmlformats.org/officeDocument/2006/relationships/font" Target="fonts/font7.fntdata"/><Relationship Id="rId18" Type="http://schemas.openxmlformats.org/officeDocument/2006/relationships/font" Target="fonts/font8.fntdata"/><Relationship Id="rId19" Type="http://schemas.openxmlformats.org/officeDocument/2006/relationships/font" Target="fonts/font9.fntdata"/><Relationship Id="rId20" Type="http://schemas.openxmlformats.org/officeDocument/2006/relationships/font" Target="fonts/font10.fntdata"/><Relationship Id="rId21" Type="http://schemas.openxmlformats.org/officeDocument/2006/relationships/font" Target="fonts/font11.fntdata"/><Relationship Id="rId22" Type="http://schemas.openxmlformats.org/officeDocument/2006/relationships/font" Target="fonts/font12.fntdata"/><Relationship Id="rId23" Type="http://schemas.openxmlformats.org/officeDocument/2006/relationships/font" Target="fonts/font13.fntdata"/><Relationship Id="rId24" Type="http://schemas.openxmlformats.org/officeDocument/2006/relationships/font" Target="fonts/font14.fntdata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h1322d1fa67168e44_1_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h1322d1fa67168e44_1_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Меня зовут Павел Абалаков. Я студент третьего курса УрТИСИ, изучаю инфокоммуникационные технологии и системы связи. В командах Payment OCR и Magistral Dispatcher MAX выступал как product manager: распределял задачи и выстраивал коммуникацию. В Payment OCR также отвечал за архитектуру. Развиваюсь в product management и управлении проектами. В этом кейсе я проектирую радиосеть первого этажа ТРК «Эльбрус»: LTE в трёх диапазонах и DCS-1800.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h1322d1fa67168e44_26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h1322d1fa67168e44_26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В онлайн-модели одновременно активными считались 80 процентов прогнозных пользователей. Новые вводные задают две последовательные доли: RRC Connected и наличие данных в буфере. Из 360 прогнозных пользователей получаются 126 подключений и 12,6 пользователя с данными. Округляю вверх до 13: необходимы 104 мегабита в секунду. При принятой эффективности три несущие обслуживают шесть, четыре и три устройства без агрегации. Выбран один общий LTE-сектор. Для единственного пула коэффициент межсекторного перекоса равен единице; прежнее правило дало бы два сектора. Резерва для четырнадцатого устройства без CA нет.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h1322d1fa67168e44_26_1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h1322d1fa67168e44_26_1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На плане размещены 32 двухпортовые антенны In06. Четыре группы распределяют сигнал одного LTE-пула на каждом диапазоне. До двух портов каждой антенны идут независимые RF-деревья M1 и M2. На каждой ветви три гибрида PC221 распределяют диапазоны на четыре направления. Триплексеры объединяют B3, B1 и B7 в зональный фидер. В группе две антенны подключены напрямую, две через двухвыходный делитель и четыре через четырёхвыходный. Доли мощности — четверть, восьмая и шестнадцатая от зонального входа до дополнительных потерь. Головной узел предусмотрен в проектной зоне 104.2. Высоты антенны и терминала приняты семь и полтора метра. GSM использует отдельный делитель и общий выход двух TRX как условие подключения БС.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h506ea8204446350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h506ea8204446350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Для каждой антенны рассчитан RF-бюджет, затем построена карта с шагом 25 сантиметров. Учитываются кабели, делители, высоты и пересечённые стены. Пилот 23 дБм принят как сумма мощностей CRS-поднесущих одного TX-порта — это нормировка P1. На наиболее высокочастотном диапазоне B7 при n=3 получено 96,37 процента от 2100 квадратных метров. С закрытыми проёмами — 95,85 процента. Дополнительные три децибела проверяются отдельно от n=3. Неизвестная площадь учитывается как непокрытая. Если 23 дБм трактовать как мощность всей несущей, уровни ниже и критерий 95 процентов не достигается. Это прогноз RSRP в указанных условиях. Помеховые показатели и обратная линия требуют отдельной оценки; пространственная карта не заменяет её.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h1322d1fa67168e44_26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h1322d1fa67168e44_26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Количество оборудования получено из той же схемы и трасс. Предусмотрены 32 антенны, шесть гибридов, восемь триплексеров, девять двухвыходных и шестнадцать четырёхвыходных делителей. Установлено 1404 метра коаксиала. С десятипроцентным резервом нужны 1366 метров семь восьмых и 179 метров одна вторая. Для соединений учтены 168 разъёмов и 113 джамперов: 101 рабочий и 12 резервных. Свободные входы заканчиваются нагрузками 50 Ом. Их модели и допустимые мощности выбираются при комплектации. Огнестойкое безгалогеновое исполнение кабелей является условием поставки.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h1322d1fa67168e44_26_3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h1322d1fa67168e44_26_3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t>Результат опирается на три решения. Последовательные доли RRC и buffer определяют спрос и один общий LTE-сектор. 32 антенны и две MIMO-ветви обеспечивают распределение сигнала по этажу. Схема два плюс два плюс четыре задаёт разные доли мощности внутри групп. Расчётные данные согласованы между PDF, схемами и ведомостью оборудования. Покрытие относится к модели P1. Дальнейшая инженерная проверка включает помехи, UL и параметры поставочных исполнений. Архитектура пассивная: управляемые удалённые модули в её состав не входят.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ы с цифрами 14">
  <p:cSld name="Слайды с цифрами 14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/>
          <p:nvPr/>
        </p:nvSpPr>
        <p:spPr>
          <a:xfrm>
            <a:off x="4616258" y="1032122"/>
            <a:ext cx="4048800" cy="1857300"/>
          </a:xfrm>
          <a:prstGeom prst="roundRect">
            <a:avLst>
              <a:gd name="adj" fmla="val 3606"/>
            </a:avLst>
          </a:prstGeom>
          <a:solidFill>
            <a:srgbClr val="DE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5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727861" y="431253"/>
            <a:ext cx="3545700" cy="101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spAutoFit/>
          </a:bodyPr>
          <a:lstStyle>
            <a:lvl1pPr marL="457200" lvl="0" indent="-228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SzPts val="2100"/>
              <a:buNone/>
              <a:defRPr sz="9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body" idx="2"/>
          </p:nvPr>
        </p:nvSpPr>
        <p:spPr>
          <a:xfrm>
            <a:off x="577384" y="1447178"/>
            <a:ext cx="3846300" cy="12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13"/>
          <p:cNvSpPr/>
          <p:nvPr/>
        </p:nvSpPr>
        <p:spPr>
          <a:xfrm>
            <a:off x="4622373" y="2989065"/>
            <a:ext cx="4048800" cy="1857300"/>
          </a:xfrm>
          <a:prstGeom prst="roundRect">
            <a:avLst>
              <a:gd name="adj" fmla="val 3606"/>
            </a:avLst>
          </a:prstGeom>
          <a:solidFill>
            <a:srgbClr val="DE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5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body" idx="3"/>
          </p:nvPr>
        </p:nvSpPr>
        <p:spPr>
          <a:xfrm>
            <a:off x="724220" y="2383605"/>
            <a:ext cx="3545700" cy="101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spAutoFit/>
          </a:bodyPr>
          <a:lstStyle>
            <a:lvl1pPr marL="457200" lvl="0" indent="-228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SzPts val="2100"/>
              <a:buNone/>
              <a:defRPr sz="9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body" idx="4"/>
          </p:nvPr>
        </p:nvSpPr>
        <p:spPr>
          <a:xfrm>
            <a:off x="573742" y="3399530"/>
            <a:ext cx="3846300" cy="12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7" name="Google Shape;57;p13"/>
          <p:cNvSpPr/>
          <p:nvPr/>
        </p:nvSpPr>
        <p:spPr>
          <a:xfrm>
            <a:off x="408182" y="1036713"/>
            <a:ext cx="4048800" cy="3809700"/>
          </a:xfrm>
          <a:prstGeom prst="roundRect">
            <a:avLst>
              <a:gd name="adj" fmla="val 3606"/>
            </a:avLst>
          </a:prstGeom>
          <a:solidFill>
            <a:srgbClr val="0062D2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5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5"/>
          </p:nvPr>
        </p:nvSpPr>
        <p:spPr>
          <a:xfrm>
            <a:off x="4712849" y="3399530"/>
            <a:ext cx="3846300" cy="12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9000" b="1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body" idx="6"/>
          </p:nvPr>
        </p:nvSpPr>
        <p:spPr>
          <a:xfrm>
            <a:off x="4863326" y="1115761"/>
            <a:ext cx="3545700" cy="101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>
            <a:lvl1pPr marL="457200" lvl="0" indent="-228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SzPts val="2100"/>
              <a:buNone/>
              <a:defRPr sz="9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715210" y="476523"/>
            <a:ext cx="964146" cy="1028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4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64" name="Google Shape;64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5" name="Google Shape;65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012" scaled="0"/>
        </a:gra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 title="Заголовок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000" y="180000"/>
            <a:ext cx="3035926" cy="1260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7" title="ьеы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9600" y="0"/>
            <a:ext cx="904399" cy="904399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TextBox 95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1 / 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28600" y="1627632"/>
            <a:ext cx="6080760" cy="1005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3422"/>
              </a:lnSpc>
              <a:spcBef>
                <a:spcPts val="0"/>
              </a:spcBef>
              <a:spcAft>
                <a:spcPts val="0"/>
              </a:spcAft>
              <a:defRPr sz="2900">
                <a:solidFill>
                  <a:srgbClr val="414141"/>
                </a:solidFill>
                <a:latin typeface="MTS Wide Medium"/>
              </a:defRPr>
            </a:pPr>
            <a:r>
              <a:t>Радиосеть первого этажа</a:t>
            </a:r>
          </a:p>
          <a:p>
            <a:pPr algn="l">
              <a:lnSpc>
                <a:spcPts val="3422"/>
              </a:lnSpc>
              <a:spcBef>
                <a:spcPts val="0"/>
              </a:spcBef>
              <a:spcAft>
                <a:spcPts val="0"/>
              </a:spcAft>
              <a:defRPr sz="2900">
                <a:solidFill>
                  <a:srgbClr val="414141"/>
                </a:solidFill>
                <a:latin typeface="MTS Wide Medium"/>
              </a:defRPr>
            </a:pPr>
            <a:r>
              <a:t>ТРК «Эльбрус»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28600" y="2798064"/>
            <a:ext cx="4160520" cy="4206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65760" y="2880360"/>
            <a:ext cx="38862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FF0032"/>
                </a:solidFill>
                <a:latin typeface="MTS Wide Medium"/>
              </a:defRPr>
            </a:pPr>
            <a:r>
              <a:t>Павел Абалаков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28600" y="3447288"/>
            <a:ext cx="5806440" cy="7772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414141"/>
                </a:solidFill>
                <a:latin typeface="MTS Text"/>
              </a:defRPr>
            </a:pPr>
            <a:r>
              <a:t>УрТИСИ · III курс · 11.03.02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414141"/>
                </a:solidFill>
                <a:latin typeface="MTS Text"/>
              </a:defRPr>
            </a:pPr>
            <a:r>
              <a:t>Инфокоммуникационные технологии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414141"/>
                </a:solidFill>
                <a:latin typeface="MTS Text"/>
              </a:defRPr>
            </a:pPr>
            <a:r>
              <a:t>и системы связи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28600" y="4315968"/>
            <a:ext cx="5760720" cy="5760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Product manager в Payment OCR и Magistral Dispatcher MAX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Архитектура (Payment OCR), задачи и коммуникация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Интересы: product management и управление проектами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446520" y="1508760"/>
            <a:ext cx="2377440" cy="3154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629400" y="2395728"/>
            <a:ext cx="2011680" cy="7772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5427"/>
              </a:lnSpc>
              <a:spcBef>
                <a:spcPts val="0"/>
              </a:spcBef>
              <a:spcAft>
                <a:spcPts val="0"/>
              </a:spcAft>
              <a:defRPr sz="4600">
                <a:solidFill>
                  <a:srgbClr val="FF0032"/>
                </a:solidFill>
                <a:latin typeface="MTS Wide Medium"/>
              </a:defRPr>
            </a:pPr>
            <a:r>
              <a:t>ПА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583680" y="3328416"/>
            <a:ext cx="2103120" cy="5486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2005"/>
              </a:lnSpc>
              <a:spcBef>
                <a:spcPts val="0"/>
              </a:spcBef>
              <a:spcAft>
                <a:spcPts val="0"/>
              </a:spcAft>
              <a:defRPr sz="1700">
                <a:solidFill>
                  <a:srgbClr val="414141"/>
                </a:solidFill>
                <a:latin typeface="MTS Wide Medium"/>
              </a:defRPr>
            </a:pPr>
            <a:r>
              <a:t>Павел</a:t>
            </a:r>
          </a:p>
          <a:p>
            <a:pPr algn="ctr">
              <a:lnSpc>
                <a:spcPts val="2005"/>
              </a:lnSpc>
              <a:spcBef>
                <a:spcPts val="0"/>
              </a:spcBef>
              <a:spcAft>
                <a:spcPts val="0"/>
              </a:spcAft>
              <a:defRPr sz="1700">
                <a:solidFill>
                  <a:srgbClr val="414141"/>
                </a:solidFill>
                <a:latin typeface="MTS Wide Medium"/>
              </a:defRPr>
            </a:pPr>
            <a:r>
              <a:t>Абалаков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20" title="ьеы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Rounded Rectangle 150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8288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490472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2798064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4105656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413248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72084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82880" y="713232"/>
            <a:ext cx="850392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Новые доли RRC и buffer: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13 пользователей вместо 288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2 / 6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182880" y="1883664"/>
            <a:ext cx="2871216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38328" y="2011680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ОДНОВРЕМЕННАЯ НАГРУЗКА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38328" y="2359152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13 UE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38328" y="2816352"/>
            <a:ext cx="2560320" cy="34747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6 + 4 + 3 по несущим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3136392" y="1883664"/>
            <a:ext cx="2871216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291840" y="2011680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ПОЛЕЗНЫЙ DOWNLINK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291840" y="2359152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104 Мбит/с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291840" y="2816352"/>
            <a:ext cx="2560320" cy="34747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13 устройств по 8 Мбит/с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089904" y="1883664"/>
            <a:ext cx="2871216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245352" y="2011680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ОБЩАЯ ЁМКОСТЬ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245352" y="2359152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 LTE-сектор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245352" y="2816352"/>
            <a:ext cx="2560320" cy="34747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Три несущие B3 / B1 / B7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82880" y="3383280"/>
            <a:ext cx="4709160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5029200" y="3383280"/>
            <a:ext cx="3931920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347472" y="3566160"/>
            <a:ext cx="4389120" cy="3474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  <a:defRPr sz="1600">
                <a:solidFill>
                  <a:srgbClr val="414141"/>
                </a:solidFill>
                <a:latin typeface="MTS Wide Medium"/>
              </a:defRPr>
            </a:pPr>
            <a:r>
              <a:t>360 × 35% × 10% = 12,6 → 13 UE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47472" y="4069080"/>
            <a:ext cx="4389120" cy="521207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  <a:defRPr sz="1300">
                <a:solidFill>
                  <a:srgbClr val="414141"/>
                </a:solidFill>
                <a:latin typeface="MTS Text"/>
              </a:defRPr>
            </a:pPr>
            <a:r>
              <a:t>η=3,1505922 бит/с/Гц; загрузка u=0,8.</a:t>
            </a:r>
          </a:p>
          <a:p>
            <a:pPr algn="l">
              <a:lnSpc>
                <a:spcPts val="1534"/>
              </a:lnSpc>
              <a:spcBef>
                <a:spcPts val="0"/>
              </a:spcBef>
              <a:spcAft>
                <a:spcPts val="0"/>
              </a:spcAft>
              <a:defRPr sz="1300">
                <a:solidFill>
                  <a:srgbClr val="414141"/>
                </a:solidFill>
                <a:latin typeface="MTS Text"/>
              </a:defRPr>
            </a:pPr>
            <a:r>
              <a:t>Один общий пул: k(1)=1.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212080" y="3557016"/>
            <a:ext cx="356616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Полезная ёмкость трёх несущих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212080" y="3877056"/>
            <a:ext cx="3566160" cy="210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defRPr sz="1140">
                <a:solidFill>
                  <a:srgbClr val="414141"/>
                </a:solidFill>
                <a:latin typeface="MTS Text"/>
              </a:defRPr>
            </a:pPr>
            <a:r>
              <a:t>B3 · 20 МГц · 50,41 Мбит/с · 6 UE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212080" y="4105656"/>
            <a:ext cx="3566160" cy="210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defRPr sz="1140">
                <a:solidFill>
                  <a:srgbClr val="414141"/>
                </a:solidFill>
                <a:latin typeface="MTS Text"/>
              </a:defRPr>
            </a:pPr>
            <a:r>
              <a:t>B1 · 15 МГц · 37,81 Мбит/с · 4 UE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212080" y="4334256"/>
            <a:ext cx="3566160" cy="210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defRPr sz="1140">
                <a:solidFill>
                  <a:srgbClr val="414141"/>
                </a:solidFill>
                <a:latin typeface="MTS Text"/>
              </a:defRPr>
            </a:pPr>
            <a:r>
              <a:t>B7 · 10 МГц · 25,20 Мбит/с · 3 UE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228600" y="4873752"/>
            <a:ext cx="7772400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  <a:defRPr sz="910">
                <a:solidFill>
                  <a:srgbClr val="666666"/>
                </a:solidFill>
                <a:latin typeface="MTS Text"/>
              </a:defRPr>
            </a:pPr>
            <a:r>
              <a:t>Без CA резерв для 14-го UE отсутствует; прежнее правило k=1,10 даёт два сектора.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189;p22" title="ьеы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Rounded Rectangle 189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8288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192" name="Rounded Rectangle 191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490472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2798064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196" name="Rounded Rectangle 195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4105656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5413248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672084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82880" y="713232"/>
            <a:ext cx="850392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Один LTE-пул — четыре группы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и два независимых RF-дерева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3 / 6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182880" y="1819656"/>
            <a:ext cx="3154680" cy="2962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3474720" y="1819656"/>
            <a:ext cx="5486400" cy="2962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6" name="Picture 205" descr="final-layou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970" y="1901952"/>
            <a:ext cx="1600499" cy="2624328"/>
          </a:xfrm>
          <a:prstGeom prst="rect">
            <a:avLst/>
          </a:prstGeom>
        </p:spPr>
      </p:pic>
      <p:sp>
        <p:nvSpPr>
          <p:cNvPr id="207" name="TextBox 206"/>
          <p:cNvSpPr txBox="1"/>
          <p:nvPr/>
        </p:nvSpPr>
        <p:spPr>
          <a:xfrm>
            <a:off x="384048" y="4572000"/>
            <a:ext cx="2743200" cy="17373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666666"/>
                </a:solidFill>
                <a:latin typeface="MTS Text"/>
              </a:defRPr>
            </a:pPr>
            <a:r>
              <a:t>План первого этажа · 32 In06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3657600" y="1956816"/>
            <a:ext cx="5120640" cy="30175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  <a:defRPr sz="1700">
                <a:solidFill>
                  <a:srgbClr val="414141"/>
                </a:solidFill>
                <a:latin typeface="MTS Wide Medium"/>
              </a:defRPr>
            </a:pPr>
            <a:r>
              <a:t>На каждой MIMO-ветви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3657600" y="2414016"/>
            <a:ext cx="5120640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defRPr sz="1500">
                <a:solidFill>
                  <a:srgbClr val="414141"/>
                </a:solidFill>
                <a:latin typeface="MTS Text"/>
              </a:defRPr>
            </a:pPr>
            <a:r>
              <a:t>PC221 ×3 → PC211 ×4 → группы Z1–Z4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3657600" y="2889504"/>
            <a:ext cx="1170432" cy="521207"/>
          </a:xfrm>
          <a:prstGeom prst="roundRect">
            <a:avLst>
              <a:gd name="adj" fmla="val 10000"/>
            </a:avLst>
          </a:prstGeom>
          <a:solidFill>
            <a:srgbClr val="FFF1F5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3657600" y="2999232"/>
            <a:ext cx="1170432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414141"/>
                </a:solidFill>
                <a:latin typeface="MTS Text"/>
              </a:defRPr>
            </a:pPr>
            <a:r>
              <a:t>Z1: 8 In06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4956048" y="2889504"/>
            <a:ext cx="1170432" cy="521207"/>
          </a:xfrm>
          <a:prstGeom prst="roundRect">
            <a:avLst>
              <a:gd name="adj" fmla="val 10000"/>
            </a:avLst>
          </a:prstGeom>
          <a:solidFill>
            <a:srgbClr val="FFF1F5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4956048" y="2999232"/>
            <a:ext cx="1170432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414141"/>
                </a:solidFill>
                <a:latin typeface="MTS Text"/>
              </a:defRPr>
            </a:pPr>
            <a:r>
              <a:t>Z2: 8 In06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6254496" y="2889504"/>
            <a:ext cx="1170432" cy="521207"/>
          </a:xfrm>
          <a:prstGeom prst="roundRect">
            <a:avLst>
              <a:gd name="adj" fmla="val 10000"/>
            </a:avLst>
          </a:prstGeom>
          <a:solidFill>
            <a:srgbClr val="FFF1F5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6254496" y="2999232"/>
            <a:ext cx="1170432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414141"/>
                </a:solidFill>
                <a:latin typeface="MTS Text"/>
              </a:defRPr>
            </a:pPr>
            <a:r>
              <a:t>Z3: 8 In06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7552944" y="2889504"/>
            <a:ext cx="1170432" cy="521207"/>
          </a:xfrm>
          <a:prstGeom prst="roundRect">
            <a:avLst>
              <a:gd name="adj" fmla="val 10000"/>
            </a:avLst>
          </a:prstGeom>
          <a:solidFill>
            <a:srgbClr val="FFF1F5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7552944" y="2999232"/>
            <a:ext cx="1170432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414141"/>
                </a:solidFill>
                <a:latin typeface="MTS Text"/>
              </a:defRPr>
            </a:pPr>
            <a:r>
              <a:t>Z4: 8 In06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3657600" y="3639312"/>
            <a:ext cx="5120640" cy="30175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defRPr sz="1280">
                <a:solidFill>
                  <a:srgbClr val="414141"/>
                </a:solidFill>
                <a:latin typeface="MTS Text"/>
              </a:defRPr>
            </a:pPr>
            <a:r>
              <a:t>В группе: 2 напрямую + 2 через PC250 + 4 через PC252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3657600" y="4197096"/>
            <a:ext cx="5120640" cy="32918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Доли мощности: 1/4 · 1/8 · 1/16</a:t>
            </a:r>
          </a:p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M1 и M2 подключены к разным портам антенн.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228600" y="4873752"/>
            <a:ext cx="7772400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  <a:defRPr sz="910">
                <a:solidFill>
                  <a:srgbClr val="666666"/>
                </a:solidFill>
                <a:latin typeface="MTS Text"/>
              </a:defRPr>
            </a:pPr>
            <a:r>
              <a:t>Головной узел — проектная зона 104.2. Высоты антенны / UE: 7 / 1,5 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Google Shape;268;p25" title="ьеы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Rounded Rectangle 268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18288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271" name="Rounded Rectangle 270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1490472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273" name="Rounded Rectangle 272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2798064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275" name="Rounded Rectangle 274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4105656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277" name="Rounded Rectangle 276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5413248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279" name="Rounded Rectangle 278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672084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182880" y="713232"/>
            <a:ext cx="850392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RSRP проходит 95% площади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в расчётных режимах P1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4 / 6</a:t>
            </a:r>
          </a:p>
        </p:txBody>
      </p:sp>
      <p:sp>
        <p:nvSpPr>
          <p:cNvPr id="283" name="Rounded Rectangle 282"/>
          <p:cNvSpPr/>
          <p:nvPr/>
        </p:nvSpPr>
        <p:spPr>
          <a:xfrm>
            <a:off x="182880" y="1819656"/>
            <a:ext cx="3154680" cy="2962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ounded Rectangle 283"/>
          <p:cNvSpPr/>
          <p:nvPr/>
        </p:nvSpPr>
        <p:spPr>
          <a:xfrm>
            <a:off x="3474720" y="1819656"/>
            <a:ext cx="5486400" cy="2962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5" name="Picture 284" descr="rsrp-2600-n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700" y="1911095"/>
            <a:ext cx="1873038" cy="2670048"/>
          </a:xfrm>
          <a:prstGeom prst="rect">
            <a:avLst/>
          </a:prstGeom>
        </p:spPr>
      </p:pic>
      <p:sp>
        <p:nvSpPr>
          <p:cNvPr id="286" name="TextBox 285"/>
          <p:cNvSpPr txBox="1"/>
          <p:nvPr/>
        </p:nvSpPr>
        <p:spPr>
          <a:xfrm>
            <a:off x="365760" y="4581144"/>
            <a:ext cx="2788920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1121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666666"/>
                </a:solidFill>
                <a:latin typeface="MTS Text"/>
              </a:defRPr>
            </a:pPr>
            <a:r>
              <a:t>B7 · n=3 · карта с шагом 0,25 м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3657600" y="1947672"/>
            <a:ext cx="512064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414141"/>
                </a:solidFill>
                <a:latin typeface="MTS Wide Medium"/>
              </a:defRPr>
            </a:pPr>
            <a:r>
              <a:t>RSRP &gt; −90 дБм · доля от 2100 м²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3657600" y="2441448"/>
            <a:ext cx="2194560" cy="210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Расчётный режим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5989320" y="2441448"/>
            <a:ext cx="731520" cy="210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B3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6903720" y="2441448"/>
            <a:ext cx="731520" cy="210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B1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7863840" y="2441448"/>
            <a:ext cx="822960" cy="210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B7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3657600" y="2770632"/>
            <a:ext cx="228600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60">
                <a:solidFill>
                  <a:srgbClr val="414141"/>
                </a:solidFill>
                <a:latin typeface="MTS Text"/>
              </a:defRPr>
            </a:pPr>
            <a:r>
              <a:t>n=2,5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5989320" y="2770632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96,59%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6903720" y="2770632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96,58%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7863840" y="2770632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96,58%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3657600" y="3044951"/>
            <a:ext cx="228600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60">
                <a:solidFill>
                  <a:srgbClr val="414141"/>
                </a:solidFill>
                <a:latin typeface="MTS Text"/>
              </a:defRPr>
            </a:pPr>
            <a:r>
              <a:t>n=3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989320" y="3044951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96,48%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6903720" y="3044951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96,45%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863840" y="3044951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96,37%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3657600" y="3319272"/>
            <a:ext cx="228600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60">
                <a:solidFill>
                  <a:srgbClr val="414141"/>
                </a:solidFill>
                <a:latin typeface="MTS Text"/>
              </a:defRPr>
            </a:pPr>
            <a:r>
              <a:t>n=3, закрытые проёмы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5989320" y="3319272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96,12%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6903720" y="3319272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96,02%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7863840" y="3319272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95,85%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657600" y="3593591"/>
            <a:ext cx="228600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60">
                <a:solidFill>
                  <a:srgbClr val="414141"/>
                </a:solidFill>
                <a:latin typeface="MTS Text"/>
              </a:defRPr>
            </a:pPr>
            <a:r>
              <a:t>n=2,5; +3 дБ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5989320" y="3593591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96,54%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6903720" y="3593591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96,54%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7863840" y="3593591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96,51%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657600" y="3867911"/>
            <a:ext cx="228600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60">
                <a:solidFill>
                  <a:srgbClr val="FF0032"/>
                </a:solidFill>
                <a:latin typeface="MTS Text"/>
              </a:defRPr>
            </a:pPr>
            <a:r>
              <a:t>P2: 23 дБм на несущую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5989320" y="3867911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FF0032"/>
                </a:solidFill>
                <a:latin typeface="MTS Text"/>
              </a:defRPr>
            </a:pPr>
            <a:r>
              <a:t>94,49%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6903720" y="3867911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FF0032"/>
                </a:solidFill>
                <a:latin typeface="MTS Text"/>
              </a:defRPr>
            </a:pPr>
            <a:r>
              <a:t>93,52%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7863840" y="3867911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FF0032"/>
                </a:solidFill>
                <a:latin typeface="MTS Text"/>
              </a:defRPr>
            </a:pPr>
            <a:r>
              <a:t>91,68%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3657600" y="4270248"/>
            <a:ext cx="5074920" cy="3474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  <a:defRPr sz="1040">
                <a:solidFill>
                  <a:srgbClr val="414141"/>
                </a:solidFill>
                <a:latin typeface="MTS Text"/>
              </a:defRPr>
            </a:pPr>
            <a:r>
              <a:t>P1: 23 дБм — сумма CRS-поднесущих одного TX-порта.</a:t>
            </a:r>
          </a:p>
          <a:p>
            <a:pPr algn="l">
              <a:lnSpc>
                <a:spcPts val="1227"/>
              </a:lnSpc>
              <a:spcBef>
                <a:spcPts val="0"/>
              </a:spcBef>
              <a:spcAft>
                <a:spcPts val="0"/>
              </a:spcAft>
              <a:defRPr sz="1040">
                <a:solidFill>
                  <a:srgbClr val="414141"/>
                </a:solidFill>
                <a:latin typeface="MTS Text"/>
              </a:defRPr>
            </a:pPr>
            <a:r>
              <a:t>n=3 и дополнительные 3 дБ проверены отдельно.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228600" y="4873752"/>
            <a:ext cx="7772400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  <a:defRPr sz="910">
                <a:solidFill>
                  <a:srgbClr val="666666"/>
                </a:solidFill>
                <a:latin typeface="MTS Text"/>
              </a:defRPr>
            </a:pPr>
            <a:r>
              <a:t>Прогноз относится к RSRP. SINR, RSRQ, C/I и UL требуют отдельной оценки.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0" name="Google Shape;340;p28" title="ьеы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341" name="Rounded Rectangle 340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18288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343" name="Rounded Rectangle 342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1490472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345" name="Rounded Rectangle 344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2798064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347" name="Rounded Rectangle 346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4105656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349" name="Rounded Rectangle 348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5413248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351" name="Rounded Rectangle 350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72084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82880" y="713232"/>
            <a:ext cx="850392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Оборудование и трассы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следуют одной схеме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5 / 6</a:t>
            </a:r>
          </a:p>
        </p:txBody>
      </p:sp>
      <p:sp>
        <p:nvSpPr>
          <p:cNvPr id="355" name="Rounded Rectangle 354"/>
          <p:cNvSpPr/>
          <p:nvPr/>
        </p:nvSpPr>
        <p:spPr>
          <a:xfrm>
            <a:off x="182880" y="1819656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338328" y="1947672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АНТЕННЫ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338328" y="2295144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32 In06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338328" y="2752344"/>
            <a:ext cx="2560320" cy="39319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Два RF-порта на антенну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64 антенных порта</a:t>
            </a:r>
          </a:p>
        </p:txBody>
      </p:sp>
      <p:sp>
        <p:nvSpPr>
          <p:cNvPr id="359" name="Rounded Rectangle 358"/>
          <p:cNvSpPr/>
          <p:nvPr/>
        </p:nvSpPr>
        <p:spPr>
          <a:xfrm>
            <a:off x="3136392" y="1819656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291840" y="1947672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ГОЛОВНОЙ УЗЕЛ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291840" y="2295144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defRPr sz="1720">
                <a:solidFill>
                  <a:srgbClr val="414141"/>
                </a:solidFill>
                <a:latin typeface="MTS Wide Medium"/>
              </a:defRPr>
            </a:pPr>
            <a:r>
              <a:t>6 PC221 · 8 PC211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3291840" y="2752344"/>
            <a:ext cx="2560320" cy="39319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Объединение операторов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и диапазонов B3 / B1 / B7</a:t>
            </a:r>
          </a:p>
        </p:txBody>
      </p:sp>
      <p:sp>
        <p:nvSpPr>
          <p:cNvPr id="363" name="Rounded Rectangle 362"/>
          <p:cNvSpPr/>
          <p:nvPr/>
        </p:nvSpPr>
        <p:spPr>
          <a:xfrm>
            <a:off x="6089904" y="1819656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245352" y="1947672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РАСПРЕДЕЛИТЕЛИ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245352" y="2295144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defRPr sz="1720">
                <a:solidFill>
                  <a:srgbClr val="414141"/>
                </a:solidFill>
                <a:latin typeface="MTS Wide Medium"/>
              </a:defRPr>
            </a:pPr>
            <a:r>
              <a:t>9 PC250 · 16 PC252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6245352" y="2752344"/>
            <a:ext cx="2560320" cy="39319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Парные и четверные группы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Схема распределения 2+2+4</a:t>
            </a:r>
          </a:p>
        </p:txBody>
      </p:sp>
      <p:sp>
        <p:nvSpPr>
          <p:cNvPr id="367" name="Rounded Rectangle 366"/>
          <p:cNvSpPr/>
          <p:nvPr/>
        </p:nvSpPr>
        <p:spPr>
          <a:xfrm>
            <a:off x="182880" y="3328415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338328" y="3456432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КОАКСИАЛ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338328" y="3803904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1404 м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338328" y="4261104"/>
            <a:ext cx="2560320" cy="39319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С резервом: 1366 м 7/8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и 179 м 1/2</a:t>
            </a:r>
          </a:p>
        </p:txBody>
      </p:sp>
      <p:sp>
        <p:nvSpPr>
          <p:cNvPr id="371" name="Rounded Rectangle 370"/>
          <p:cNvSpPr/>
          <p:nvPr/>
        </p:nvSpPr>
        <p:spPr>
          <a:xfrm>
            <a:off x="3136392" y="3328415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3291840" y="3456432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СОЕДИНЕНИЯ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3291840" y="3803904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168 разъёмов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3291840" y="4261104"/>
            <a:ext cx="2560320" cy="39319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7/8 — 100 шт.; 1/2 — 68 шт.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Исполнения male / female</a:t>
            </a:r>
          </a:p>
        </p:txBody>
      </p:sp>
      <p:sp>
        <p:nvSpPr>
          <p:cNvPr id="375" name="Rounded Rectangle 374"/>
          <p:cNvSpPr/>
          <p:nvPr/>
        </p:nvSpPr>
        <p:spPr>
          <a:xfrm>
            <a:off x="6089904" y="3328415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245352" y="3456432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ДЖАМПЕРЫ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6245352" y="3803904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113 × 3 м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6245352" y="4261104"/>
            <a:ext cx="2560320" cy="39319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101 рабочий + 12 резервных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Включая четыре местных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228600" y="4873752"/>
            <a:ext cx="7772400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  <a:defRPr sz="910">
                <a:solidFill>
                  <a:srgbClr val="666666"/>
                </a:solidFill>
                <a:latin typeface="MTS Text"/>
              </a:defRPr>
            </a:pPr>
            <a:r>
              <a:t>Условия комплектации: нагрузки 50 Ом, интерфейсы RF-портов и пожарное исполнение кабелей.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29" title="ьеы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Rounded Rectangle 385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TextBox 386"/>
          <p:cNvSpPr txBox="1"/>
          <p:nvPr/>
        </p:nvSpPr>
        <p:spPr>
          <a:xfrm>
            <a:off x="18288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388" name="Rounded Rectangle 387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1490472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2798064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392" name="Rounded Rectangle 391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4105656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394" name="Rounded Rectangle 393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TextBox 394"/>
          <p:cNvSpPr txBox="1"/>
          <p:nvPr/>
        </p:nvSpPr>
        <p:spPr>
          <a:xfrm>
            <a:off x="5413248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396" name="Rounded Rectangle 395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672084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182880" y="713232"/>
            <a:ext cx="850392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Три решения, которые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определяют результат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6 / 6</a:t>
            </a:r>
          </a:p>
        </p:txBody>
      </p:sp>
      <p:sp>
        <p:nvSpPr>
          <p:cNvPr id="400" name="Rounded Rectangle 399"/>
          <p:cNvSpPr/>
          <p:nvPr/>
        </p:nvSpPr>
        <p:spPr>
          <a:xfrm>
            <a:off x="182880" y="1874519"/>
            <a:ext cx="2871216" cy="14996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338328" y="2002536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МОДЕЛЬ СПРОСА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338328" y="2350008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 LTE-сектор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338328" y="2807208"/>
            <a:ext cx="2560320" cy="4937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13 пользователей с данными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104 Мбит/с полезного DL</a:t>
            </a:r>
          </a:p>
        </p:txBody>
      </p:sp>
      <p:sp>
        <p:nvSpPr>
          <p:cNvPr id="404" name="Rounded Rectangle 403"/>
          <p:cNvSpPr/>
          <p:nvPr/>
        </p:nvSpPr>
        <p:spPr>
          <a:xfrm>
            <a:off x="3136392" y="1874519"/>
            <a:ext cx="2871216" cy="14996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TextBox 404"/>
          <p:cNvSpPr txBox="1"/>
          <p:nvPr/>
        </p:nvSpPr>
        <p:spPr>
          <a:xfrm>
            <a:off x="3291840" y="2002536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РАЗМЕЩЕНИЕ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3291840" y="2350008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32 антенны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3291840" y="2807208"/>
            <a:ext cx="2560320" cy="4937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B7 при n=3: 96,37%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Две независимые MIMO-ветви</a:t>
            </a:r>
          </a:p>
        </p:txBody>
      </p:sp>
      <p:sp>
        <p:nvSpPr>
          <p:cNvPr id="408" name="Rounded Rectangle 407"/>
          <p:cNvSpPr/>
          <p:nvPr/>
        </p:nvSpPr>
        <p:spPr>
          <a:xfrm>
            <a:off x="6089904" y="1874519"/>
            <a:ext cx="2871216" cy="14996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6245352" y="2002536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ДЕЛЕНИЕ МОЩНОСТИ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6245352" y="2350008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2 + 2 + 4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6245352" y="2807208"/>
            <a:ext cx="2560320" cy="4937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Доли 1/4, 1/8 и 1/16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в каждой группе</a:t>
            </a:r>
          </a:p>
        </p:txBody>
      </p:sp>
      <p:sp>
        <p:nvSpPr>
          <p:cNvPr id="412" name="Rounded Rectangle 411"/>
          <p:cNvSpPr/>
          <p:nvPr/>
        </p:nvSpPr>
        <p:spPr>
          <a:xfrm>
            <a:off x="182880" y="3575304"/>
            <a:ext cx="8778240" cy="11704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TextBox 412"/>
          <p:cNvSpPr txBox="1"/>
          <p:nvPr/>
        </p:nvSpPr>
        <p:spPr>
          <a:xfrm>
            <a:off x="384048" y="3739896"/>
            <a:ext cx="8366760" cy="30175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  <a:defRPr sz="1700">
                <a:solidFill>
                  <a:srgbClr val="414141"/>
                </a:solidFill>
                <a:latin typeface="MTS Wide Medium"/>
              </a:defRPr>
            </a:pPr>
            <a:r>
              <a:t>Ёмкость → архитектура → RF-бюджет → покрытие → спецификация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384048" y="4242816"/>
            <a:ext cx="8366760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Расчётная конфигурация — пассивная DAS в модели P1. Помеховые KPI, UL и параметры поставки</a:t>
            </a:r>
          </a:p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проверяются отдельно; управляемые удалённые модули в состав сети не входят.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463</TotalTime>
  <Words>448</Words>
  <Application>Microsoft Macintosh PowerPoint</Application>
  <PresentationFormat>Экран (16:9)</PresentationFormat>
  <Paragraphs>215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7" baseType="lpstr">
      <vt:lpstr>Calibri</vt:lpstr>
      <vt:lpstr>Inter Medium</vt:lpstr>
      <vt:lpstr>MTS Wide</vt:lpstr>
      <vt:lpstr>MTS Text</vt:lpstr>
      <vt:lpstr>MTS Wide Medium</vt:lpstr>
      <vt:lpstr>MTS Text Medium</vt:lpstr>
      <vt:lpstr>Inter</vt:lpstr>
      <vt:lpstr>Arial</vt:lpstr>
      <vt:lpstr>Simple Light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Xenia Obukh</cp:lastModifiedBy>
  <cp:revision>4</cp:revision>
  <dcterms:modified xsi:type="dcterms:W3CDTF">2026-10-12T19:45:42Z</dcterms:modified>
  <dc:title>Радиосеть первого этажа ТРК «Эльбрус»</dc:title>
  <dc:creator>Павел Абалаков</dc:creator>
  <dc:subject>МТС Engineer Hack 2026 · Радио</dc:subject>
  <dc:description/>
</cp:coreProperties>
</file>