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core-properties" Target="docProps/core.xml"/><Relationship Id="rId3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trictFirstAndLastChars="0" embedTrueTypeFonts="1" saveSubsetFonts="1" autoCompressPictures="0">
  <p:sldMasterIdLst>
    <p:sldMasterId id="2147483661" r:id="rId1"/>
  </p:sldMasterIdLst>
  <p:notesMasterIdLst>
    <p:notesMasterId r:id="rId10"/>
  </p:notesMasterIdLst>
  <p:sldIdLst>
    <p:sldId id="258" r:id="rId2"/>
    <p:sldId id="261" r:id="rId3"/>
    <p:sldId id="263" r:id="rId4"/>
    <p:sldId id="266" r:id="rId5"/>
    <p:sldId id="269" r:id="rId6"/>
    <p:sldId id="270" r:id="rId7"/>
  </p:sldIdLst>
  <p:sldSz cx="9144000" cy="5143500" type="screen16x9"/>
  <p:notesSz cx="6858000" cy="9144000"/>
  <p:embeddedFontLst>
    <p:embeddedFont>
      <p:font typeface="Inter" panose="02000503000000020004" pitchFamily="2" charset="0"/>
      <p:regular r:id="rId11"/>
      <p:bold r:id="rId12"/>
      <p:italic r:id="rId13"/>
      <p:boldItalic r:id="rId14"/>
    </p:embeddedFont>
    <p:embeddedFont>
      <p:font typeface="Inter Medium" panose="02000503000000020004" pitchFamily="2" charset="0"/>
      <p:regular r:id="rId15"/>
      <p:bold r:id="rId16"/>
      <p:italic r:id="rId17"/>
      <p:boldItalic r:id="rId18"/>
    </p:embeddedFont>
    <p:embeddedFont>
      <p:font typeface="MTS Text" panose="020B0306020102020303" pitchFamily="34" charset="0"/>
      <p:regular r:id="rId19"/>
      <p:bold r:id="rId20"/>
    </p:embeddedFont>
    <p:embeddedFont>
      <p:font typeface="MTS Text Medium" panose="020B0306020102020303" pitchFamily="34" charset="0"/>
      <p:regular r:id="rId21"/>
    </p:embeddedFont>
    <p:embeddedFont>
      <p:font typeface="MTS Wide" panose="020B0306020102020303" pitchFamily="34" charset="0"/>
      <p:regular r:id="rId22"/>
      <p:bold r:id="rId23"/>
    </p:embeddedFont>
    <p:embeddedFont>
      <p:font typeface="MTS Wide Medium" panose="020B0306020102020303" pitchFamily="34" charset="0"/>
      <p:regular r:id="rId24"/>
    </p:embeddedFont>
  </p:embeddedFontLst>
  <p:defaultText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 xmlns:p15="http://schemas.microsoft.com/office/powerpoint/2012/main">
        <p15:guide id="1" orient="horz" pos="100" userDrawn="1">
          <p15:clr>
            <a:srgbClr val="747775"/>
          </p15:clr>
        </p15:guide>
        <p15:guide id="2" pos="113">
          <p15:clr>
            <a:srgbClr val="747775"/>
          </p15:clr>
        </p15:guide>
        <p15:guide id="3" orient="horz" pos="3127">
          <p15:clr>
            <a:srgbClr val="747775"/>
          </p15:clr>
        </p15:guide>
        <p15:guide id="4" pos="5647">
          <p15:clr>
            <a:srgbClr val="747775"/>
          </p15:clr>
        </p15:guide>
        <p15:guide id="5" pos="2880">
          <p15:clr>
            <a:srgbClr val="747775"/>
          </p15:clr>
        </p15:guide>
        <p15:guide id="6" pos="2852">
          <p15:clr>
            <a:srgbClr val="747775"/>
          </p15:clr>
        </p15:guide>
        <p15:guide id="7" pos="2908">
          <p15:clr>
            <a:srgbClr val="747775"/>
          </p15:clr>
        </p15:guide>
        <p15:guide id="8" orient="horz" pos="1251">
          <p15:clr>
            <a:srgbClr val="747775"/>
          </p15:clr>
        </p15:guide>
        <p15:guide id="9" pos="2014">
          <p15:clr>
            <a:srgbClr val="747775"/>
          </p15:clr>
        </p15:guide>
        <p15:guide id="10" pos="3903">
          <p15:clr>
            <a:srgbClr val="747775"/>
          </p15:clr>
        </p15:guide>
        <p15:guide id="11" orient="horz" pos="1009">
          <p15:clr>
            <a:srgbClr val="747775"/>
          </p15:clr>
        </p15:guide>
        <p15:guide id="13" orient="horz" pos="452">
          <p15:clr>
            <a:srgbClr val="747775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408B8B5D-C623-46D9-ADCC-D26623CE91F4}">
  <a:tblStyle styleId="{408B8B5D-C623-46D9-ADCC-D26623CE91F4}" styleName="Table_0">
    <a:wholeTbl>
      <a:tcTxStyle>
        <a:font>
          <a:latin typeface="Arial"/>
          <a:ea typeface="Arial"/>
          <a:cs typeface="Arial"/>
        </a:font>
        <a:srgbClr val="000000"/>
      </a:tcTxStyle>
      <a:tcStyle>
        <a:tcBdr>
          <a:lef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left>
          <a:right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right>
          <a:top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top>
          <a:bottom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bottom>
          <a:insideH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H>
          <a:insideV>
            <a:ln w="9525" cap="flat" cmpd="sng">
              <a:solidFill>
                <a:srgbClr val="9E9E9E"/>
              </a:solidFill>
              <a:prstDash val="solid"/>
              <a:round/>
              <a:headEnd type="none" w="sm" len="sm"/>
              <a:tailEnd type="none" w="sm" len="sm"/>
            </a:ln>
          </a:insideV>
        </a:tcBdr>
      </a:tcStyle>
    </a:wholeTbl>
    <a:band1H>
      <a:tcTxStyle/>
      <a:tcStyle>
        <a:tcBdr/>
      </a:tcStyle>
    </a:band1H>
    <a:band2H>
      <a:tcTxStyle/>
      <a:tcStyle>
        <a:tcBdr/>
      </a:tcStyle>
    </a:band2H>
    <a:band1V>
      <a:tcTxStyle/>
      <a:tcStyle>
        <a:tcBdr/>
      </a:tcStyle>
    </a:band1V>
    <a:band2V>
      <a:tcTxStyle/>
      <a:tcStyle>
        <a:tcBdr/>
      </a:tcStyle>
    </a:band2V>
    <a:lastCol>
      <a:tcTxStyle/>
      <a:tcStyle>
        <a:tcBdr/>
      </a:tcStyle>
    </a:lastCol>
    <a:firstCol>
      <a:tcTxStyle/>
      <a:tcStyle>
        <a:tcBdr/>
      </a:tcStyle>
    </a:firstCol>
    <a:lastRow>
      <a:tcTxStyle/>
      <a:tcStyle>
        <a:tcBdr/>
      </a:tcStyle>
    </a:lastRow>
    <a:seCell>
      <a:tcTxStyle/>
      <a:tcStyle>
        <a:tcBdr/>
      </a:tcStyle>
    </a:seCell>
    <a:swCell>
      <a:tcTxStyle/>
      <a:tcStyle>
        <a:tcBdr/>
      </a:tcStyle>
    </a:swCell>
    <a:firstRow>
      <a:tcTxStyle/>
      <a:tcStyle>
        <a:tcBdr/>
      </a:tcStyle>
    </a:firstRow>
    <a:neCell>
      <a:tcTxStyle/>
      <a:tcStyle>
        <a:tcBdr/>
      </a:tcStyle>
    </a:neCell>
    <a:nwCell>
      <a:tcTxStyle/>
      <a:tcStyle>
        <a:tcBdr/>
      </a:tcStyle>
    </a:nwCel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43"/>
    <p:restoredTop sz="94648"/>
  </p:normalViewPr>
  <p:slideViewPr>
    <p:cSldViewPr snapToGrid="0">
      <p:cViewPr varScale="1">
        <p:scale>
          <a:sx n="156" d="100"/>
          <a:sy n="156" d="100"/>
        </p:scale>
        <p:origin x="544" y="168"/>
      </p:cViewPr>
      <p:guideLst>
        <p:guide orient="horz" pos="100"/>
        <p:guide pos="113"/>
        <p:guide orient="horz" pos="3127"/>
        <p:guide pos="5647"/>
        <p:guide pos="2880"/>
        <p:guide pos="2852"/>
        <p:guide pos="2908"/>
        <p:guide orient="horz" pos="1251"/>
        <p:guide pos="2014"/>
        <p:guide pos="3903"/>
        <p:guide orient="horz" pos="1009"/>
        <p:guide orient="horz" pos="452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10" Type="http://schemas.openxmlformats.org/officeDocument/2006/relationships/notesMaster" Target="notesMasters/notesMaster1.xml"/><Relationship Id="rId11" Type="http://schemas.openxmlformats.org/officeDocument/2006/relationships/font" Target="fonts/font1.fntdata"/><Relationship Id="rId12" Type="http://schemas.openxmlformats.org/officeDocument/2006/relationships/font" Target="fonts/font2.fntdata"/><Relationship Id="rId13" Type="http://schemas.openxmlformats.org/officeDocument/2006/relationships/font" Target="fonts/font3.fntdata"/><Relationship Id="rId14" Type="http://schemas.openxmlformats.org/officeDocument/2006/relationships/font" Target="fonts/font4.fntdata"/><Relationship Id="rId15" Type="http://schemas.openxmlformats.org/officeDocument/2006/relationships/font" Target="fonts/font5.fntdata"/><Relationship Id="rId16" Type="http://schemas.openxmlformats.org/officeDocument/2006/relationships/font" Target="fonts/font6.fntdata"/><Relationship Id="rId17" Type="http://schemas.openxmlformats.org/officeDocument/2006/relationships/font" Target="fonts/font7.fntdata"/><Relationship Id="rId18" Type="http://schemas.openxmlformats.org/officeDocument/2006/relationships/font" Target="fonts/font8.fntdata"/><Relationship Id="rId19" Type="http://schemas.openxmlformats.org/officeDocument/2006/relationships/font" Target="fonts/font9.fntdata"/><Relationship Id="rId20" Type="http://schemas.openxmlformats.org/officeDocument/2006/relationships/font" Target="fonts/font10.fntdata"/><Relationship Id="rId21" Type="http://schemas.openxmlformats.org/officeDocument/2006/relationships/font" Target="fonts/font11.fntdata"/><Relationship Id="rId22" Type="http://schemas.openxmlformats.org/officeDocument/2006/relationships/font" Target="fonts/font12.fntdata"/><Relationship Id="rId23" Type="http://schemas.openxmlformats.org/officeDocument/2006/relationships/font" Target="fonts/font13.fntdata"/><Relationship Id="rId24" Type="http://schemas.openxmlformats.org/officeDocument/2006/relationships/font" Target="fonts/font14.fntdata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>
            <a:spLocks noGrp="1" noRot="1" noChangeAspect="1"/>
          </p:cNvSpPr>
          <p:nvPr>
            <p:ph type="sldImg" idx="2"/>
          </p:nvPr>
        </p:nvSpPr>
        <p:spPr>
          <a:xfrm>
            <a:off x="381300" y="685800"/>
            <a:ext cx="6096075" cy="3429000"/>
          </a:xfrm>
          <a:custGeom>
            <a:avLst/>
            <a:gdLst/>
            <a:ahLst/>
            <a:cxnLst/>
            <a:rect l="l" t="t" r="r" b="b"/>
            <a:pathLst>
              <a:path w="120000" h="120000" extrusionOk="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w="9525" cap="flat" cmpd="sng">
            <a:solidFill>
              <a:srgbClr val="000000"/>
            </a:solidFill>
            <a:prstDash val="solid"/>
            <a:round/>
            <a:headEnd type="none" w="sm" len="sm"/>
            <a:tailEnd type="none" w="sm" len="sm"/>
          </a:ln>
        </p:spPr>
      </p:sp>
      <p:sp>
        <p:nvSpPr>
          <p:cNvPr id="4" name="Google Shape;4;n"/>
          <p:cNvSpPr txBox="1">
            <a:spLocks noGrp="1"/>
          </p:cNvSpPr>
          <p:nvPr>
            <p:ph type="body" idx="1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Autofit/>
          </a:bodyPr>
          <a:lstStyle>
            <a:lvl1pPr marL="457200" lvl="0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marL="914400" lvl="1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marL="1371600" lvl="2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marL="1828800" lvl="3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marL="2286000" lvl="4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marL="2743200" lvl="5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marL="3200400" lvl="6" indent="-29845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marL="3657600" lvl="7" indent="-29845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marL="4114800" lvl="8" indent="-29845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notesStyle>
    <a:defPPr marR="0" lvl="0" algn="l" rtl="0">
      <a:lnSpc>
        <a:spcPct val="100000"/>
      </a:lnSpc>
      <a:spcBef>
        <a:spcPts val="0"/>
      </a:spcBef>
      <a:spcAft>
        <a:spcPts val="0"/>
      </a:spcAft>
    </a:defPPr>
    <a:lvl1pPr marR="0" lvl="0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1pPr>
    <a:lvl2pPr marR="0" lvl="1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2pPr>
    <a:lvl3pPr marR="0" lvl="2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3pPr>
    <a:lvl4pPr marR="0" lvl="3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4pPr>
    <a:lvl5pPr marR="0" lvl="4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5pPr>
    <a:lvl6pPr marR="0" lvl="5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6pPr>
    <a:lvl7pPr marR="0" lvl="6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7pPr>
    <a:lvl8pPr marR="0" lvl="7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8pPr>
    <a:lvl9pPr marR="0" lvl="8" algn="l" rtl="0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sz="1400" b="0" i="0" u="none" strike="noStrike" cap="none" spc="0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slide" type="title">
  <p:cSld name="TITLE">
    <p:spTree>
      <p:nvGrpSpPr>
        <p:cNvPr id="1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>
            <a:spLocks noGrp="1"/>
          </p:cNvSpPr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>
            <a:endParaRPr/>
          </a:p>
        </p:txBody>
      </p:sp>
      <p:sp>
        <p:nvSpPr>
          <p:cNvPr id="11" name="Google Shape;11;p2"/>
          <p:cNvSpPr txBox="1">
            <a:spLocks noGrp="1"/>
          </p:cNvSpPr>
          <p:nvPr>
            <p:ph type="subTitle" idx="1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None/>
              <a:defRPr sz="2800"/>
            </a:lvl9pPr>
          </a:lstStyle>
          <a:p>
            <a:endParaRPr/>
          </a:p>
        </p:txBody>
      </p:sp>
      <p:sp>
        <p:nvSpPr>
          <p:cNvPr id="12" name="Google Shape;12;p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header" type="secHead">
  <p:cSld name="SECTION_HEADER">
    <p:spTree>
      <p:nvGrpSpPr>
        <p:cNvPr id="1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>
            <a:spLocks noGrp="1"/>
          </p:cNvSpPr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>
            <a:endParaRPr/>
          </a:p>
        </p:txBody>
      </p:sp>
      <p:sp>
        <p:nvSpPr>
          <p:cNvPr id="15" name="Google Shape;15;p3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body" type="tx">
  <p:cSld name="TITLE_AND_BODY">
    <p:spTree>
      <p:nvGrpSpPr>
        <p:cNvPr id="1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4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18" name="Google Shape;18;p4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19" name="Google Shape;19;p4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and two columns" type="twoColTx">
  <p:cSld name="TITLE_AND_TWO_COLUMNS">
    <p:spTree>
      <p:nvGrpSpPr>
        <p:cNvPr id="1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2" name="Google Shape;22;p5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3" name="Google Shape;23;p5"/>
          <p:cNvSpPr txBox="1">
            <a:spLocks noGrp="1"/>
          </p:cNvSpPr>
          <p:nvPr>
            <p:ph type="body" idx="2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 sz="14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24" name="Google Shape;24;p5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Title only" type="titleOnly">
  <p:cSld name="TITLE_ONLY">
    <p:spTree>
      <p:nvGrpSpPr>
        <p:cNvPr id="1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>
            <a:endParaRPr/>
          </a:p>
        </p:txBody>
      </p:sp>
      <p:sp>
        <p:nvSpPr>
          <p:cNvPr id="27" name="Google Shape;27;p6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One column text">
  <p:cSld name="ONE_COLUMN_TEXT">
    <p:spTree>
      <p:nvGrpSpPr>
        <p:cNvPr id="1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>
            <a:spLocks noGrp="1"/>
          </p:cNvSpPr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>
            <a:endParaRPr/>
          </a:p>
        </p:txBody>
      </p:sp>
      <p:sp>
        <p:nvSpPr>
          <p:cNvPr id="30" name="Google Shape;30;p7"/>
          <p:cNvSpPr txBox="1">
            <a:spLocks noGrp="1"/>
          </p:cNvSpPr>
          <p:nvPr>
            <p:ph type="body" idx="1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1pPr>
            <a:lvl2pPr marL="914400" lvl="1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2pPr>
            <a:lvl3pPr marL="1371600" lvl="2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3pPr>
            <a:lvl4pPr marL="1828800" lvl="3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4pPr>
            <a:lvl5pPr marL="2286000" lvl="4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5pPr>
            <a:lvl6pPr marL="2743200" lvl="5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6pPr>
            <a:lvl7pPr marL="3200400" lvl="6" indent="-304800">
              <a:spcBef>
                <a:spcPts val="0"/>
              </a:spcBef>
              <a:spcAft>
                <a:spcPts val="0"/>
              </a:spcAft>
              <a:buSzPts val="1200"/>
              <a:buChar char="●"/>
              <a:defRPr sz="1200"/>
            </a:lvl7pPr>
            <a:lvl8pPr marL="3657600" lvl="7" indent="-304800">
              <a:spcBef>
                <a:spcPts val="0"/>
              </a:spcBef>
              <a:spcAft>
                <a:spcPts val="0"/>
              </a:spcAft>
              <a:buSzPts val="1200"/>
              <a:buChar char="○"/>
              <a:defRPr sz="1200"/>
            </a:lvl8pPr>
            <a:lvl9pPr marL="4114800" lvl="8" indent="-304800">
              <a:spcBef>
                <a:spcPts val="0"/>
              </a:spcBef>
              <a:spcAft>
                <a:spcPts val="0"/>
              </a:spcAft>
              <a:buSzPts val="1200"/>
              <a:buChar char="■"/>
              <a:defRPr sz="1200"/>
            </a:lvl9pPr>
          </a:lstStyle>
          <a:p>
            <a:endParaRPr/>
          </a:p>
        </p:txBody>
      </p:sp>
      <p:sp>
        <p:nvSpPr>
          <p:cNvPr id="31" name="Google Shape;31;p7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Main point">
  <p:cSld name="MAIN_POINT">
    <p:spTree>
      <p:nvGrpSpPr>
        <p:cNvPr id="1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>
            <a:spLocks noGrp="1"/>
          </p:cNvSpPr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>
            <a:endParaRPr/>
          </a:p>
        </p:txBody>
      </p:sp>
      <p:sp>
        <p:nvSpPr>
          <p:cNvPr id="34" name="Google Shape;34;p8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Section title and description">
  <p:cSld name="SECTION_TITLE_AND_DESCRIPTION">
    <p:spTree>
      <p:nvGrpSpPr>
        <p:cNvPr id="1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spcFirstLastPara="1" wrap="square" lIns="91425" tIns="91425" rIns="91425" bIns="91425" anchor="ctr" anchorCtr="0">
            <a:noAutofit/>
          </a:bodyPr>
          <a:lstStyle/>
          <a:p>
            <a:pPr marL="0" lvl="0" indent="0" algn="l" rtl="0">
              <a:spcBef>
                <a:spcPts val="0"/>
              </a:spcBef>
              <a:spcAft>
                <a:spcPts val="0"/>
              </a:spcAft>
              <a:buNone/>
            </a:pPr>
            <a:endParaRPr/>
          </a:p>
        </p:txBody>
      </p:sp>
      <p:sp>
        <p:nvSpPr>
          <p:cNvPr id="37" name="Google Shape;37;p9"/>
          <p:cNvSpPr txBox="1">
            <a:spLocks noGrp="1"/>
          </p:cNvSpPr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>
            <a:endParaRPr/>
          </a:p>
        </p:txBody>
      </p:sp>
      <p:sp>
        <p:nvSpPr>
          <p:cNvPr id="38" name="Google Shape;38;p9"/>
          <p:cNvSpPr txBox="1">
            <a:spLocks noGrp="1"/>
          </p:cNvSpPr>
          <p:nvPr>
            <p:ph type="subTitle" idx="1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None/>
              <a:defRPr sz="2100"/>
            </a:lvl9pPr>
          </a:lstStyle>
          <a:p>
            <a:endParaRPr/>
          </a:p>
        </p:txBody>
      </p:sp>
      <p:sp>
        <p:nvSpPr>
          <p:cNvPr id="39" name="Google Shape;39;p9"/>
          <p:cNvSpPr txBox="1">
            <a:spLocks noGrp="1"/>
          </p:cNvSpPr>
          <p:nvPr>
            <p:ph type="body" idx="2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342900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0" name="Google Shape;40;p9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Caption">
  <p:cSld name="CAPTION_ONLY">
    <p:spTree>
      <p:nvGrpSpPr>
        <p:cNvPr id="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>
            <a:spLocks noGrp="1"/>
          </p:cNvSpPr>
          <p:nvPr>
            <p:ph type="body" idx="1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marL="457200" lvl="0" indent="-22860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/>
            </a:lvl1pPr>
          </a:lstStyle>
          <a:p>
            <a:endParaRPr/>
          </a:p>
        </p:txBody>
      </p:sp>
      <p:sp>
        <p:nvSpPr>
          <p:cNvPr id="43" name="Google Shape;43;p10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ig number">
  <p:cSld name="BIG_NUMBER">
    <p:spTree>
      <p:nvGrpSpPr>
        <p:cNvPr id="1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>
            <a:spLocks noGrp="1"/>
          </p:cNvSpPr>
          <p:nvPr>
            <p:ph type="title" hasCustomPrompt="1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</p:spPr>
        <p:txBody>
          <a:bodyPr spcFirstLastPara="1" wrap="square" lIns="91425" tIns="91425" rIns="91425" bIns="91425" anchor="b" anchorCtr="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>
            <a:r>
              <a:t>xx%</a:t>
            </a:r>
          </a:p>
        </p:txBody>
      </p:sp>
      <p:sp>
        <p:nvSpPr>
          <p:cNvPr id="46" name="Google Shape;46;p11"/>
          <p:cNvSpPr txBox="1">
            <a:spLocks noGrp="1"/>
          </p:cNvSpPr>
          <p:nvPr>
            <p:ph type="body" idx="1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 algn="ctr">
              <a:spcBef>
                <a:spcPts val="0"/>
              </a:spcBef>
              <a:spcAft>
                <a:spcPts val="0"/>
              </a:spcAft>
              <a:buSzPts val="1800"/>
              <a:buChar char="●"/>
              <a:defRPr/>
            </a:lvl1pPr>
            <a:lvl2pPr marL="914400" lvl="1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2pPr>
            <a:lvl3pPr marL="1371600" lvl="2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3pPr>
            <a:lvl4pPr marL="1828800" lvl="3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ctr">
              <a:spcBef>
                <a:spcPts val="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ctr">
              <a:spcBef>
                <a:spcPts val="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ctr">
              <a:spcBef>
                <a:spcPts val="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47" name="Google Shape;47;p1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Blank" type="blank">
  <p:cSld name="BLANK">
    <p:spTree>
      <p:nvGrpSpPr>
        <p:cNvPr id="1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</p:spPr>
        <p:txBody>
          <a:bodyPr spcFirstLastPara="1" wrap="square" lIns="91425" tIns="91425" rIns="91425" bIns="91425" anchor="ctr" anchorCtr="0">
            <a:normAutofit/>
          </a:bodyPr>
          <a:lstStyle>
            <a:lvl1pPr lvl="0">
              <a:buNone/>
              <a:defRPr/>
            </a:lvl1pPr>
            <a:lvl2pPr lvl="1">
              <a:buNone/>
              <a:defRPr/>
            </a:lvl2pPr>
            <a:lvl3pPr lvl="2">
              <a:buNone/>
              <a:defRPr/>
            </a:lvl3pPr>
            <a:lvl4pPr lvl="3">
              <a:buNone/>
              <a:defRPr/>
            </a:lvl4pPr>
            <a:lvl5pPr lvl="4">
              <a:buNone/>
              <a:defRPr/>
            </a:lvl5pPr>
            <a:lvl6pPr lvl="5">
              <a:buNone/>
              <a:defRPr/>
            </a:lvl6pPr>
            <a:lvl7pPr lvl="6">
              <a:buNone/>
              <a:defRPr/>
            </a:lvl7pPr>
            <a:lvl8pPr lvl="7">
              <a:buNone/>
              <a:defRPr/>
            </a:lvl8pPr>
            <a:lvl9pPr lvl="8">
              <a:buNone/>
              <a:defRPr/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Слайды с цифрами 14">
  <p:cSld name="Слайды с цифрами 14">
    <p:spTree>
      <p:nvGrpSpPr>
        <p:cNvPr id="1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3"/>
          <p:cNvSpPr/>
          <p:nvPr/>
        </p:nvSpPr>
        <p:spPr>
          <a:xfrm>
            <a:off x="4616258" y="1032122"/>
            <a:ext cx="4048800" cy="1857300"/>
          </a:xfrm>
          <a:prstGeom prst="roundRect">
            <a:avLst>
              <a:gd name="adj" fmla="val 3606"/>
            </a:avLst>
          </a:prstGeom>
          <a:solidFill>
            <a:srgbClr val="DEF6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5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" name="Google Shape;52;p13"/>
          <p:cNvSpPr txBox="1">
            <a:spLocks noGrp="1"/>
          </p:cNvSpPr>
          <p:nvPr>
            <p:ph type="body" idx="1"/>
          </p:nvPr>
        </p:nvSpPr>
        <p:spPr>
          <a:xfrm>
            <a:off x="727861" y="431253"/>
            <a:ext cx="3545700" cy="101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spAutoFit/>
          </a:bodyPr>
          <a:lstStyle>
            <a:lvl1pPr marL="457200" lvl="0" indent="-228600" algn="l">
              <a:lnSpc>
                <a:spcPct val="130000"/>
              </a:lnSpc>
              <a:spcBef>
                <a:spcPts val="400"/>
              </a:spcBef>
              <a:spcAft>
                <a:spcPts val="0"/>
              </a:spcAft>
              <a:buSzPts val="2100"/>
              <a:buNone/>
              <a:defRPr sz="9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Char char="■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3" name="Google Shape;53;p13"/>
          <p:cNvSpPr txBox="1">
            <a:spLocks noGrp="1"/>
          </p:cNvSpPr>
          <p:nvPr>
            <p:ph type="body" idx="2"/>
          </p:nvPr>
        </p:nvSpPr>
        <p:spPr>
          <a:xfrm>
            <a:off x="577384" y="1447178"/>
            <a:ext cx="3846300" cy="125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9000" b="1" i="0">
                <a:solidFill>
                  <a:srgbClr val="0062D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9000" b="1" i="0">
                <a:solidFill>
                  <a:srgbClr val="0062D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Char char="■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4" name="Google Shape;54;p13"/>
          <p:cNvSpPr/>
          <p:nvPr/>
        </p:nvSpPr>
        <p:spPr>
          <a:xfrm>
            <a:off x="4622373" y="2989065"/>
            <a:ext cx="4048800" cy="1857300"/>
          </a:xfrm>
          <a:prstGeom prst="roundRect">
            <a:avLst>
              <a:gd name="adj" fmla="val 3606"/>
            </a:avLst>
          </a:prstGeom>
          <a:solidFill>
            <a:srgbClr val="DEF6FF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5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" name="Google Shape;55;p13"/>
          <p:cNvSpPr txBox="1">
            <a:spLocks noGrp="1"/>
          </p:cNvSpPr>
          <p:nvPr>
            <p:ph type="body" idx="3"/>
          </p:nvPr>
        </p:nvSpPr>
        <p:spPr>
          <a:xfrm>
            <a:off x="724220" y="2383605"/>
            <a:ext cx="3545700" cy="101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b" anchorCtr="0">
            <a:spAutoFit/>
          </a:bodyPr>
          <a:lstStyle>
            <a:lvl1pPr marL="457200" lvl="0" indent="-228600" algn="l">
              <a:lnSpc>
                <a:spcPct val="130000"/>
              </a:lnSpc>
              <a:spcBef>
                <a:spcPts val="400"/>
              </a:spcBef>
              <a:spcAft>
                <a:spcPts val="0"/>
              </a:spcAft>
              <a:buSzPts val="2100"/>
              <a:buNone/>
              <a:defRPr sz="900" b="0" i="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Char char="■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6" name="Google Shape;56;p13"/>
          <p:cNvSpPr txBox="1">
            <a:spLocks noGrp="1"/>
          </p:cNvSpPr>
          <p:nvPr>
            <p:ph type="body" idx="4"/>
          </p:nvPr>
        </p:nvSpPr>
        <p:spPr>
          <a:xfrm>
            <a:off x="573742" y="3399530"/>
            <a:ext cx="3846300" cy="125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9000" b="1" i="0">
                <a:solidFill>
                  <a:srgbClr val="0062D2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9000" b="1" i="0">
                <a:solidFill>
                  <a:srgbClr val="0062D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Char char="■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7" name="Google Shape;57;p13"/>
          <p:cNvSpPr/>
          <p:nvPr/>
        </p:nvSpPr>
        <p:spPr>
          <a:xfrm>
            <a:off x="408182" y="1036713"/>
            <a:ext cx="4048800" cy="3809700"/>
          </a:xfrm>
          <a:prstGeom prst="roundRect">
            <a:avLst>
              <a:gd name="adj" fmla="val 3606"/>
            </a:avLst>
          </a:prstGeom>
          <a:solidFill>
            <a:srgbClr val="0062D2"/>
          </a:solidFill>
          <a:ln>
            <a:noFill/>
          </a:ln>
        </p:spPr>
        <p:txBody>
          <a:bodyPr spcFirstLastPara="1" wrap="square" lIns="68575" tIns="34275" rIns="68575" bIns="34275" anchor="t" anchorCtr="0">
            <a:noAutofit/>
          </a:bodyPr>
          <a:lstStyle/>
          <a:p>
            <a:pPr marL="0" marR="0" lvl="0" indent="0" algn="ctr" rtl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None/>
            </a:pPr>
            <a:endParaRPr sz="500" b="0" i="0" u="none" strike="noStrike" cap="none"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8" name="Google Shape;58;p13"/>
          <p:cNvSpPr txBox="1">
            <a:spLocks noGrp="1"/>
          </p:cNvSpPr>
          <p:nvPr>
            <p:ph type="body" idx="5"/>
          </p:nvPr>
        </p:nvSpPr>
        <p:spPr>
          <a:xfrm>
            <a:off x="4712849" y="3399530"/>
            <a:ext cx="3846300" cy="1250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0" tIns="0" rIns="0" bIns="0" anchor="t" anchorCtr="0">
            <a:spAutoFit/>
          </a:bodyPr>
          <a:lstStyle>
            <a:lvl1pPr marL="457200" lvl="0" indent="-228600" algn="ctr">
              <a:lnSpc>
                <a:spcPct val="100000"/>
              </a:lnSpc>
              <a:spcBef>
                <a:spcPts val="800"/>
              </a:spcBef>
              <a:spcAft>
                <a:spcPts val="0"/>
              </a:spcAft>
              <a:buSzPts val="2100"/>
              <a:buNone/>
              <a:defRPr sz="9000" b="1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228600" algn="l">
              <a:lnSpc>
                <a:spcPct val="10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9000" b="1" i="0">
                <a:solidFill>
                  <a:srgbClr val="0062D2"/>
                </a:solidFill>
                <a:latin typeface="Arial"/>
                <a:ea typeface="Arial"/>
                <a:cs typeface="Arial"/>
                <a:sym typeface="Arial"/>
              </a:defRPr>
            </a:lvl2pPr>
            <a:lvl3pPr marL="137160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Char char="■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sp>
        <p:nvSpPr>
          <p:cNvPr id="59" name="Google Shape;59;p13"/>
          <p:cNvSpPr txBox="1">
            <a:spLocks noGrp="1"/>
          </p:cNvSpPr>
          <p:nvPr>
            <p:ph type="body" idx="6"/>
          </p:nvPr>
        </p:nvSpPr>
        <p:spPr>
          <a:xfrm>
            <a:off x="4863326" y="1115761"/>
            <a:ext cx="3545700" cy="1011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spAutoFit/>
          </a:bodyPr>
          <a:lstStyle>
            <a:lvl1pPr marL="457200" lvl="0" indent="-228600" algn="l">
              <a:lnSpc>
                <a:spcPct val="130000"/>
              </a:lnSpc>
              <a:spcBef>
                <a:spcPts val="400"/>
              </a:spcBef>
              <a:spcAft>
                <a:spcPts val="0"/>
              </a:spcAft>
              <a:buSzPts val="2100"/>
              <a:buNone/>
              <a:defRPr sz="900" b="0" i="0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marL="914400" lvl="1" indent="-3429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○"/>
              <a:defRPr/>
            </a:lvl2pPr>
            <a:lvl3pPr marL="1371600" lvl="2" indent="-32385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500"/>
              <a:buChar char="■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●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○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Char char="■"/>
              <a:defRPr/>
            </a:lvl9pPr>
          </a:lstStyle>
          <a:p>
            <a:endParaRPr/>
          </a:p>
        </p:txBody>
      </p:sp>
      <p:pic>
        <p:nvPicPr>
          <p:cNvPr id="60" name="Google Shape;60;p13"/>
          <p:cNvPicPr preferRelativeResize="0"/>
          <p:nvPr/>
        </p:nvPicPr>
        <p:blipFill rotWithShape="1">
          <a:blip r:embed="rId2">
            <a:alphaModFix/>
          </a:blip>
          <a:srcRect/>
          <a:stretch/>
        </p:blipFill>
        <p:spPr>
          <a:xfrm>
            <a:off x="7715210" y="476523"/>
            <a:ext cx="964146" cy="10284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3240">
          <p15:clr>
            <a:srgbClr val="FBAE40"/>
          </p15:clr>
        </p15:guide>
        <p15:guide id="2" pos="5760">
          <p15:clr>
            <a:srgbClr val="FBAE40"/>
          </p15:clr>
        </p15:guide>
      </p15:sldGuideLst>
    </p:ext>
  </p:extLst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matchingName="Заголовок и объект" type="obj">
  <p:cSld name="OBJECT">
    <p:spTree>
      <p:nvGrpSpPr>
        <p:cNvPr id="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4"/>
          <p:cNvSpPr txBox="1">
            <a:spLocks noGrp="1"/>
          </p:cNvSpPr>
          <p:nvPr>
            <p:ph type="title"/>
          </p:nvPr>
        </p:nvSpPr>
        <p:spPr>
          <a:xfrm>
            <a:off x="628650" y="273844"/>
            <a:ext cx="7886700" cy="9942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rmAutofit/>
          </a:bodyPr>
          <a:lstStyle>
            <a:lvl1pPr lv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/>
            </a:lvl9pPr>
          </a:lstStyle>
          <a:p>
            <a:endParaRPr/>
          </a:p>
        </p:txBody>
      </p:sp>
      <p:sp>
        <p:nvSpPr>
          <p:cNvPr id="63" name="Google Shape;63;p14"/>
          <p:cNvSpPr txBox="1">
            <a:spLocks noGrp="1"/>
          </p:cNvSpPr>
          <p:nvPr>
            <p:ph type="body" idx="1"/>
          </p:nvPr>
        </p:nvSpPr>
        <p:spPr>
          <a:xfrm>
            <a:off x="628650" y="1369219"/>
            <a:ext cx="7886700" cy="3263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t" anchorCtr="0">
            <a:normAutofit/>
          </a:bodyPr>
          <a:lstStyle>
            <a:lvl1pPr marL="457200" lvl="0" indent="-317500" algn="l">
              <a:lnSpc>
                <a:spcPct val="90000"/>
              </a:lnSpc>
              <a:spcBef>
                <a:spcPts val="8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1pPr>
            <a:lvl2pPr marL="914400" lvl="1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2pPr>
            <a:lvl3pPr marL="1371600" lvl="2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3pPr>
            <a:lvl4pPr marL="1828800" lvl="3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4pPr>
            <a:lvl5pPr marL="2286000" lvl="4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5pPr>
            <a:lvl6pPr marL="2743200" lvl="5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6pPr>
            <a:lvl7pPr marL="3200400" lvl="6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7pPr>
            <a:lvl8pPr marL="3657600" lvl="7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8pPr>
            <a:lvl9pPr marL="4114800" lvl="8" indent="-3175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1400"/>
              <a:buChar char="•"/>
              <a:defRPr/>
            </a:lvl9pPr>
          </a:lstStyle>
          <a:p>
            <a:endParaRPr/>
          </a:p>
        </p:txBody>
      </p:sp>
      <p:sp>
        <p:nvSpPr>
          <p:cNvPr id="64" name="Google Shape;64;p14"/>
          <p:cNvSpPr txBox="1">
            <a:spLocks noGrp="1"/>
          </p:cNvSpPr>
          <p:nvPr>
            <p:ph type="dt" idx="10"/>
          </p:nvPr>
        </p:nvSpPr>
        <p:spPr>
          <a:xfrm>
            <a:off x="6286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65" name="Google Shape;65;p14"/>
          <p:cNvSpPr txBox="1">
            <a:spLocks noGrp="1"/>
          </p:cNvSpPr>
          <p:nvPr>
            <p:ph type="ftr" idx="11"/>
          </p:nvPr>
        </p:nvSpPr>
        <p:spPr>
          <a:xfrm>
            <a:off x="3028950" y="4767263"/>
            <a:ext cx="30861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1pPr>
            <a:lvl2pPr lvl="1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2pPr>
            <a:lvl3pPr lvl="2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3pPr>
            <a:lvl4pPr lvl="3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4pPr>
            <a:lvl5pPr lvl="4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5pPr>
            <a:lvl6pPr lvl="5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6pPr>
            <a:lvl7pPr lvl="6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7pPr>
            <a:lvl8pPr lvl="7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8pPr>
            <a:lvl9pPr lvl="8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100"/>
              <a:buNone/>
              <a:defRPr sz="1100"/>
            </a:lvl9pPr>
          </a:lstStyle>
          <a:p>
            <a:endParaRPr/>
          </a:p>
        </p:txBody>
      </p:sp>
      <p:sp>
        <p:nvSpPr>
          <p:cNvPr id="66" name="Google Shape;66;p14"/>
          <p:cNvSpPr txBox="1">
            <a:spLocks noGrp="1"/>
          </p:cNvSpPr>
          <p:nvPr>
            <p:ph type="sldNum" idx="12"/>
          </p:nvPr>
        </p:nvSpPr>
        <p:spPr>
          <a:xfrm>
            <a:off x="6457950" y="4767263"/>
            <a:ext cx="2057400" cy="2739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68575" tIns="34275" rIns="68575" bIns="34275" anchor="ctr" anchorCtr="0">
            <a:noAutofit/>
          </a:bodyPr>
          <a:lstStyle>
            <a:lvl1pPr marL="0" marR="0" lvl="0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marL="0" marR="0" lvl="1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marL="0" marR="0" lvl="2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marL="0" marR="0" lvl="3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marL="0" marR="0" lvl="4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marL="0" marR="0" lvl="5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marL="0" marR="0" lvl="6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marL="0" marR="0" lvl="7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marL="0" marR="0" lvl="8" indent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900"/>
              <a:buFont typeface="Arial"/>
              <a:buNone/>
              <a:defRPr sz="900" b="0" i="0" u="none" strike="noStrike" cap="non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 name="simple-light-2">
    <p:bg>
      <p:bgPr>
        <a:solidFill>
          <a:schemeClr val="lt1"/>
        </a:solidFill>
        <a:effectLst/>
      </p:bgPr>
    </p:bg>
    <p:spTree>
      <p:nvGrpSpPr>
        <p:cNvPr id="1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>
            <a:spLocks noGrp="1"/>
          </p:cNvSpPr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lvl="0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None/>
              <a:defRPr sz="2800">
                <a:solidFill>
                  <a:schemeClr val="dk1"/>
                </a:solidFill>
              </a:defRPr>
            </a:lvl9pPr>
          </a:lstStyle>
          <a:p>
            <a:endParaRPr/>
          </a:p>
        </p:txBody>
      </p:sp>
      <p:sp>
        <p:nvSpPr>
          <p:cNvPr id="7" name="Google Shape;7;p1"/>
          <p:cNvSpPr txBox="1">
            <a:spLocks noGrp="1"/>
          </p:cNvSpPr>
          <p:nvPr>
            <p:ph type="body" idx="1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t" anchorCtr="0">
            <a:normAutofit/>
          </a:bodyPr>
          <a:lstStyle>
            <a:lvl1pPr marL="457200" lvl="0" indent="-3429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Char char="●"/>
              <a:defRPr sz="1800">
                <a:solidFill>
                  <a:schemeClr val="dk2"/>
                </a:solidFill>
              </a:defRPr>
            </a:lvl1pPr>
            <a:lvl2pPr marL="914400" lvl="1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2pPr>
            <a:lvl3pPr marL="1371600" lvl="2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3pPr>
            <a:lvl4pPr marL="1828800" lvl="3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4pPr>
            <a:lvl5pPr marL="2286000" lvl="4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5pPr>
            <a:lvl6pPr marL="2743200" lvl="5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6pPr>
            <a:lvl7pPr marL="3200400" lvl="6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●"/>
              <a:defRPr>
                <a:solidFill>
                  <a:schemeClr val="dk2"/>
                </a:solidFill>
              </a:defRPr>
            </a:lvl7pPr>
            <a:lvl8pPr marL="3657600" lvl="7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○"/>
              <a:defRPr>
                <a:solidFill>
                  <a:schemeClr val="dk2"/>
                </a:solidFill>
              </a:defRPr>
            </a:lvl8pPr>
            <a:lvl9pPr marL="4114800" lvl="8" indent="-317500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400"/>
              <a:buChar char="■"/>
              <a:defRPr>
                <a:solidFill>
                  <a:schemeClr val="dk2"/>
                </a:solidFill>
              </a:defRPr>
            </a:lvl9pPr>
          </a:lstStyle>
          <a:p>
            <a:endParaRPr/>
          </a:p>
        </p:txBody>
      </p:sp>
      <p:sp>
        <p:nvSpPr>
          <p:cNvPr id="8" name="Google Shape;8;p1"/>
          <p:cNvSpPr txBox="1">
            <a:spLocks noGrp="1"/>
          </p:cNvSpPr>
          <p:nvPr>
            <p:ph type="sldNum" idx="12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91425" rIns="91425" bIns="91425" anchor="ctr" anchorCtr="0">
            <a:normAutofit/>
          </a:bodyPr>
          <a:lstStyle>
            <a:lvl1pPr lvl="0" algn="r">
              <a:buNone/>
              <a:defRPr sz="1000">
                <a:solidFill>
                  <a:schemeClr val="dk2"/>
                </a:solidFill>
              </a:defRPr>
            </a:lvl1pPr>
            <a:lvl2pPr lvl="1" algn="r">
              <a:buNone/>
              <a:defRPr sz="1000">
                <a:solidFill>
                  <a:schemeClr val="dk2"/>
                </a:solidFill>
              </a:defRPr>
            </a:lvl2pPr>
            <a:lvl3pPr lvl="2" algn="r">
              <a:buNone/>
              <a:defRPr sz="1000">
                <a:solidFill>
                  <a:schemeClr val="dk2"/>
                </a:solidFill>
              </a:defRPr>
            </a:lvl3pPr>
            <a:lvl4pPr lvl="3" algn="r">
              <a:buNone/>
              <a:defRPr sz="1000">
                <a:solidFill>
                  <a:schemeClr val="dk2"/>
                </a:solidFill>
              </a:defRPr>
            </a:lvl4pPr>
            <a:lvl5pPr lvl="4" algn="r">
              <a:buNone/>
              <a:defRPr sz="1000">
                <a:solidFill>
                  <a:schemeClr val="dk2"/>
                </a:solidFill>
              </a:defRPr>
            </a:lvl5pPr>
            <a:lvl6pPr lvl="5" algn="r">
              <a:buNone/>
              <a:defRPr sz="1000">
                <a:solidFill>
                  <a:schemeClr val="dk2"/>
                </a:solidFill>
              </a:defRPr>
            </a:lvl6pPr>
            <a:lvl7pPr lvl="6" algn="r">
              <a:buNone/>
              <a:defRPr sz="1000">
                <a:solidFill>
                  <a:schemeClr val="dk2"/>
                </a:solidFill>
              </a:defRPr>
            </a:lvl7pPr>
            <a:lvl8pPr lvl="7" algn="r">
              <a:buNone/>
              <a:defRPr sz="1000">
                <a:solidFill>
                  <a:schemeClr val="dk2"/>
                </a:solidFill>
              </a:defRPr>
            </a:lvl8pPr>
            <a:lvl9pPr lvl="8" algn="r">
              <a:buNone/>
              <a:defRPr sz="1000">
                <a:solidFill>
                  <a:schemeClr val="dk2"/>
                </a:solidFill>
              </a:defRPr>
            </a:lvl9pPr>
          </a:lstStyle>
          <a:p>
            <a:pPr marL="0" lvl="0" indent="0" algn="r" rtl="0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ru"/>
              <a:t>‹#›</a:t>
            </a:fld>
            <a:endParaRPr/>
          </a:p>
        </p:txBody>
      </p:sp>
    </p:spTree>
  </p:cSld>
  <p:clrMap bg1="lt1" tx1="dk1" bg2="dk2" tx2="lt2" accent1="accent1" accent2="accent2" accent3="accent3" accent4="accent4" accent5="accent5" accent6="accent6" hlink="hlink" folHlink="fol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  <p:sldLayoutId id="2147483660" r:id="rId13"/>
  </p:sldLayoutIdLst>
  <p:hf sldNum="0" hdr="0" ftr="0" dt="0"/>
  <p:txStyles>
    <p:title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marR="0" lvl="0" algn="l" rtl="0">
        <a:lnSpc>
          <a:spcPct val="100000"/>
        </a:lnSpc>
        <a:spcBef>
          <a:spcPts val="0"/>
        </a:spcBef>
        <a:spcAft>
          <a:spcPts val="0"/>
        </a:spcAft>
      </a:defPPr>
      <a:lvl1pPr marR="0" lvl="0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marR="0" lvl="1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marR="0" lvl="2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marR="0" lvl="3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marR="0" lvl="4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marR="0" lvl="5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marR="0" lvl="6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marR="0" lvl="7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marR="0" lvl="8" algn="l" rtl="0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sz="1400" b="0" i="0" u="none" strike="noStrike" cap="none" spc="0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0.jp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Relationship Id="rId6" Type="http://schemas.openxmlformats.org/officeDocument/2006/relationships/image" Target="../media/image5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6.png"/><Relationship Id="rId4" Type="http://schemas.openxmlformats.org/officeDocument/2006/relationships/image" Target="../media/image3.png"/><Relationship Id="rId5" Type="http://schemas.openxmlformats.org/officeDocument/2006/relationships/image" Target="../media/image7.png"/><Relationship Id="rId6" Type="http://schemas.openxmlformats.org/officeDocument/2006/relationships/image" Target="../media/image8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1.png"/><Relationship Id="rId3" Type="http://schemas.openxmlformats.org/officeDocument/2006/relationships/image" Target="../media/image3.png"/><Relationship Id="rId4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image" Target="../media/image12.png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3.png"/><Relationship Id="rId4" Type="http://schemas.openxmlformats.org/officeDocument/2006/relationships/image" Target="../media/image9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3" Type="http://schemas.openxmlformats.org/officeDocument/2006/relationships/image" Target="../media/image3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E1C9FF"/>
            </a:gs>
            <a:gs pos="100000">
              <a:srgbClr val="FFE9E4"/>
            </a:gs>
          </a:gsLst>
          <a:lin ang="5400012" scaled="0"/>
        </a:gradFill>
        <a:effectLst/>
      </p:bgPr>
    </p:bg>
    <p:spTree>
      <p:nvGrpSpPr>
        <p:cNvPr id="1" name="Shape 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4" name="Google Shape;94;p17" title="Заголовок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180000" y="180000"/>
            <a:ext cx="3035926" cy="1260299"/>
          </a:xfrm>
          <a:prstGeom prst="rect">
            <a:avLst/>
          </a:prstGeom>
          <a:noFill/>
          <a:ln>
            <a:noFill/>
          </a:ln>
        </p:spPr>
      </p:pic>
      <p:pic>
        <p:nvPicPr>
          <p:cNvPr id="95" name="Google Shape;95;p17" title="ьеы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239600" y="0"/>
            <a:ext cx="904399" cy="904399"/>
          </a:xfrm>
          <a:prstGeom prst="rect">
            <a:avLst/>
          </a:prstGeom>
          <a:noFill/>
          <a:ln>
            <a:noFill/>
          </a:ln>
        </p:spPr>
      </p:pic>
      <p:sp>
        <p:nvSpPr>
          <p:cNvPr id="96" name="TextBox 95"/>
          <p:cNvSpPr txBox="1"/>
          <p:nvPr/>
        </p:nvSpPr>
        <p:spPr>
          <a:xfrm>
            <a:off x="8119872" y="4956048"/>
            <a:ext cx="795528" cy="11887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826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666666"/>
                </a:solidFill>
                <a:latin typeface="MTS Text"/>
              </a:defRPr>
            </a:pPr>
            <a:r>
              <a:t>1 / 6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228600" y="1627632"/>
            <a:ext cx="6080760" cy="10058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3422"/>
              </a:lnSpc>
              <a:spcBef>
                <a:spcPts val="0"/>
              </a:spcBef>
              <a:spcAft>
                <a:spcPts val="0"/>
              </a:spcAft>
              <a:defRPr sz="2900">
                <a:solidFill>
                  <a:srgbClr val="414141"/>
                </a:solidFill>
                <a:latin typeface="MTS Wide Medium"/>
              </a:defRPr>
            </a:pPr>
            <a:r>
              <a:t>Радиосеть первого этажа</a:t>
            </a:r>
          </a:p>
          <a:p>
            <a:pPr algn="l">
              <a:lnSpc>
                <a:spcPts val="3422"/>
              </a:lnSpc>
              <a:spcBef>
                <a:spcPts val="0"/>
              </a:spcBef>
              <a:spcAft>
                <a:spcPts val="0"/>
              </a:spcAft>
              <a:defRPr sz="2900">
                <a:solidFill>
                  <a:srgbClr val="414141"/>
                </a:solidFill>
                <a:latin typeface="MTS Wide Medium"/>
              </a:defRPr>
            </a:pPr>
            <a:r>
              <a:t>ТРК «Эльбрус»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228600" y="2798064"/>
            <a:ext cx="4160520" cy="42062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 w="9525">
            <a:solidFill>
              <a:srgbClr val="FF00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365760" y="2880360"/>
            <a:ext cx="3886200" cy="27432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2124"/>
              </a:lnSpc>
              <a:spcBef>
                <a:spcPts val="0"/>
              </a:spcBef>
              <a:spcAft>
                <a:spcPts val="0"/>
              </a:spcAft>
              <a:defRPr sz="1800">
                <a:solidFill>
                  <a:srgbClr val="FF0032"/>
                </a:solidFill>
                <a:latin typeface="MTS Wide Medium"/>
              </a:defRPr>
            </a:pPr>
            <a:r>
              <a:t>Павел Абалаков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228600" y="3447288"/>
            <a:ext cx="5806440" cy="7772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  <a:defRPr sz="1400">
                <a:solidFill>
                  <a:srgbClr val="414141"/>
                </a:solidFill>
                <a:latin typeface="MTS Text"/>
              </a:defRPr>
            </a:pPr>
            <a:r>
              <a:t>УрТИСИ · III курс · 11.03.02</a:t>
            </a:r>
          </a:p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  <a:defRPr sz="1400">
                <a:solidFill>
                  <a:srgbClr val="414141"/>
                </a:solidFill>
                <a:latin typeface="MTS Text"/>
              </a:defRPr>
            </a:pPr>
            <a:r>
              <a:t>Инфокоммуникационные технологии</a:t>
            </a:r>
          </a:p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  <a:defRPr sz="1400">
                <a:solidFill>
                  <a:srgbClr val="414141"/>
                </a:solidFill>
                <a:latin typeface="MTS Text"/>
              </a:defRPr>
            </a:pPr>
            <a:r>
              <a:t>и системы связи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228600" y="4315968"/>
            <a:ext cx="5760720" cy="57607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II место на Всероссийском хакатоне связи (2025) — Payment OCR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Архитектура (Payment OCR), задачи и коммуникация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Интересы: product management и управление проектами</a:t>
            </a:r>
          </a:p>
        </p:txBody>
      </p:sp>
      <p:sp>
        <p:nvSpPr>
          <p:cNvPr id="102" name="Rounded Rectangle 101"/>
          <p:cNvSpPr/>
          <p:nvPr/>
        </p:nvSpPr>
        <p:spPr>
          <a:xfrm>
            <a:off x="6446520" y="1508760"/>
            <a:ext cx="2377440" cy="31546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03" name="Picture 102" descr="portrait.jp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37960" y="1988819"/>
            <a:ext cx="2194560" cy="21945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E1C9FF"/>
            </a:gs>
            <a:gs pos="100000">
              <a:srgbClr val="FFE9E4"/>
            </a:gs>
          </a:gsLst>
          <a:lin ang="5400700" scaled="0"/>
        </a:gradFill>
        <a:effectLst/>
      </p:bgPr>
    </p:bg>
    <p:spTree>
      <p:nvGrpSpPr>
        <p:cNvPr id="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0" name="Google Shape;150;p20" title="ьеы.png"/>
          <p:cNvPicPr preferRelativeResize="0"/>
          <p:nvPr/>
        </p:nvPicPr>
        <p:blipFill>
          <a:blip r:embed="rId4">
            <a:alphaModFix/>
          </a:blip>
          <a:stretch>
            <a:fillRect/>
          </a:stretch>
        </p:blipFill>
        <p:spPr>
          <a:xfrm>
            <a:off x="8537875" y="0"/>
            <a:ext cx="606125" cy="606125"/>
          </a:xfrm>
          <a:prstGeom prst="rect">
            <a:avLst/>
          </a:prstGeom>
          <a:noFill/>
          <a:ln>
            <a:noFill/>
          </a:ln>
        </p:spPr>
      </p:pic>
      <p:sp>
        <p:nvSpPr>
          <p:cNvPr id="151" name="Rounded Rectangle 150"/>
          <p:cNvSpPr/>
          <p:nvPr/>
        </p:nvSpPr>
        <p:spPr>
          <a:xfrm>
            <a:off x="182880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TextBox 151"/>
          <p:cNvSpPr txBox="1"/>
          <p:nvPr/>
        </p:nvSpPr>
        <p:spPr>
          <a:xfrm>
            <a:off x="182880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Автор</a:t>
            </a:r>
          </a:p>
        </p:txBody>
      </p:sp>
      <p:sp>
        <p:nvSpPr>
          <p:cNvPr id="153" name="Rounded Rectangle 152"/>
          <p:cNvSpPr/>
          <p:nvPr/>
        </p:nvSpPr>
        <p:spPr>
          <a:xfrm>
            <a:off x="1490472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00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4" name="TextBox 153"/>
          <p:cNvSpPr txBox="1"/>
          <p:nvPr/>
        </p:nvSpPr>
        <p:spPr>
          <a:xfrm>
            <a:off x="1490472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FFFFFF"/>
                </a:solidFill>
                <a:latin typeface="MTS Text"/>
              </a:defRPr>
            </a:pPr>
            <a:r>
              <a:t>Ёмкость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2798064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TextBox 155"/>
          <p:cNvSpPr txBox="1"/>
          <p:nvPr/>
        </p:nvSpPr>
        <p:spPr>
          <a:xfrm>
            <a:off x="2798064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Схема DAS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4105656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4105656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Покрытие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5413248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5413248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Оборудование</a:t>
            </a:r>
          </a:p>
        </p:txBody>
      </p:sp>
      <p:sp>
        <p:nvSpPr>
          <p:cNvPr id="161" name="Rounded Rectangle 160"/>
          <p:cNvSpPr/>
          <p:nvPr/>
        </p:nvSpPr>
        <p:spPr>
          <a:xfrm>
            <a:off x="6720840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6720840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Итоги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82880" y="713232"/>
            <a:ext cx="8503920" cy="914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>
                <a:solidFill>
                  <a:srgbClr val="414141"/>
                </a:solidFill>
                <a:latin typeface="MTS Wide Medium"/>
              </a:defRPr>
            </a:pPr>
            <a:r>
              <a:t>Новые доли RRC и buffer:</a:t>
            </a:r>
          </a:p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>
                <a:solidFill>
                  <a:srgbClr val="414141"/>
                </a:solidFill>
                <a:latin typeface="MTS Wide Medium"/>
              </a:defRPr>
            </a:pPr>
            <a:r>
              <a:t>13 пользователей вместо 288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8119872" y="4956048"/>
            <a:ext cx="795528" cy="11887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826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666666"/>
                </a:solidFill>
                <a:latin typeface="MTS Text"/>
              </a:defRPr>
            </a:pPr>
            <a:r>
              <a:t>2 / 6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182880" y="1883664"/>
            <a:ext cx="2871216" cy="13533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338328" y="2011680"/>
            <a:ext cx="25603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ОДНОВРЕМЕННАЯ НАГРУЗКА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338328" y="2359152"/>
            <a:ext cx="25603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>
                <a:solidFill>
                  <a:srgbClr val="414141"/>
                </a:solidFill>
                <a:latin typeface="MTS Wide Medium"/>
              </a:defRPr>
            </a:pPr>
            <a:r>
              <a:t>13 UE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338328" y="2816352"/>
            <a:ext cx="2560320" cy="34747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6 + 4 + 3 по несущим</a:t>
            </a:r>
          </a:p>
        </p:txBody>
      </p:sp>
      <p:sp>
        <p:nvSpPr>
          <p:cNvPr id="169" name="Rounded Rectangle 168"/>
          <p:cNvSpPr/>
          <p:nvPr/>
        </p:nvSpPr>
        <p:spPr>
          <a:xfrm>
            <a:off x="3136392" y="1883664"/>
            <a:ext cx="2871216" cy="13533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3291840" y="2011680"/>
            <a:ext cx="25603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ПОЛЕЗНЫЙ DOWNLINK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3291840" y="2359152"/>
            <a:ext cx="25603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>
                <a:solidFill>
                  <a:srgbClr val="414141"/>
                </a:solidFill>
                <a:latin typeface="MTS Wide Medium"/>
              </a:defRPr>
            </a:pPr>
            <a:r>
              <a:t>104 Мбит/с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3291840" y="2816352"/>
            <a:ext cx="2560320" cy="34747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13 устройств по 8 Мбит/с</a:t>
            </a:r>
          </a:p>
        </p:txBody>
      </p:sp>
      <p:sp>
        <p:nvSpPr>
          <p:cNvPr id="173" name="Rounded Rectangle 172"/>
          <p:cNvSpPr/>
          <p:nvPr/>
        </p:nvSpPr>
        <p:spPr>
          <a:xfrm>
            <a:off x="6089904" y="1883664"/>
            <a:ext cx="2871216" cy="13533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6245352" y="2011680"/>
            <a:ext cx="25603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ОБЩАЯ ЁМКОСТЬ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6245352" y="2359152"/>
            <a:ext cx="25603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>
                <a:solidFill>
                  <a:srgbClr val="414141"/>
                </a:solidFill>
                <a:latin typeface="MTS Wide Medium"/>
              </a:defRPr>
            </a:pPr>
            <a:r>
              <a:t>1 LTE-сектор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6245352" y="2816352"/>
            <a:ext cx="2560320" cy="34747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Три несущие B3 / B1 / B7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182880" y="3383280"/>
            <a:ext cx="4709160" cy="13533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Rounded Rectangle 177"/>
          <p:cNvSpPr/>
          <p:nvPr/>
        </p:nvSpPr>
        <p:spPr>
          <a:xfrm>
            <a:off x="5029200" y="3383280"/>
            <a:ext cx="3931920" cy="13533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347472" y="3566160"/>
            <a:ext cx="4389120" cy="34747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888"/>
              </a:lnSpc>
              <a:spcBef>
                <a:spcPts val="0"/>
              </a:spcBef>
              <a:spcAft>
                <a:spcPts val="0"/>
              </a:spcAft>
              <a:defRPr sz="1600">
                <a:solidFill>
                  <a:srgbClr val="414141"/>
                </a:solidFill>
                <a:latin typeface="MTS Wide Medium"/>
              </a:defRPr>
            </a:pPr>
            <a:r>
              <a:t>360 × 35% × 10% = 12,6 → 13 UE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347472" y="4069080"/>
            <a:ext cx="4389120" cy="521207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92"/>
              </a:lnSpc>
              <a:spcBef>
                <a:spcPts val="0"/>
              </a:spcBef>
              <a:spcAft>
                <a:spcPts val="0"/>
              </a:spcAft>
              <a:defRPr sz="1180">
                <a:solidFill>
                  <a:srgbClr val="414141"/>
                </a:solidFill>
                <a:latin typeface="MTS Text"/>
              </a:defRPr>
            </a:pPr>
            <a:r>
              <a:t>Секторы: 25 → 2 (k=1,10) → 1 (k(1)=1)</a:t>
            </a:r>
          </a:p>
          <a:p>
            <a:pPr algn="l">
              <a:lnSpc>
                <a:spcPts val="1392"/>
              </a:lnSpc>
              <a:spcBef>
                <a:spcPts val="0"/>
              </a:spcBef>
              <a:spcAft>
                <a:spcPts val="0"/>
              </a:spcAft>
              <a:defRPr sz="1180">
                <a:solidFill>
                  <a:srgbClr val="414141"/>
                </a:solidFill>
                <a:latin typeface="MTS Text"/>
              </a:defRPr>
            </a:pPr>
            <a:r>
              <a:t>η=3,1505922; u=0,8.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5212080" y="3557016"/>
            <a:ext cx="356616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666666"/>
                </a:solidFill>
                <a:latin typeface="MTS Text"/>
              </a:defRPr>
            </a:pPr>
            <a:r>
              <a:t>Полезная ёмкость трёх несущих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5212080" y="3877056"/>
            <a:ext cx="3566160" cy="2103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defRPr sz="1140">
                <a:solidFill>
                  <a:srgbClr val="414141"/>
                </a:solidFill>
                <a:latin typeface="MTS Text"/>
              </a:defRPr>
            </a:pPr>
            <a:r>
              <a:t>B3 · 20 МГц · 50,41 Мбит/с · 6 UE</a:t>
            </a:r>
          </a:p>
        </p:txBody>
      </p:sp>
      <p:sp>
        <p:nvSpPr>
          <p:cNvPr id="183" name="TextBox 182"/>
          <p:cNvSpPr txBox="1"/>
          <p:nvPr/>
        </p:nvSpPr>
        <p:spPr>
          <a:xfrm>
            <a:off x="5212080" y="4105656"/>
            <a:ext cx="3566160" cy="2103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defRPr sz="1140">
                <a:solidFill>
                  <a:srgbClr val="414141"/>
                </a:solidFill>
                <a:latin typeface="MTS Text"/>
              </a:defRPr>
            </a:pPr>
            <a:r>
              <a:t>B1 · 15 МГц · 37,81 Мбит/с · 4 UE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5212080" y="4334256"/>
            <a:ext cx="3566160" cy="2103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45"/>
              </a:lnSpc>
              <a:spcBef>
                <a:spcPts val="0"/>
              </a:spcBef>
              <a:spcAft>
                <a:spcPts val="0"/>
              </a:spcAft>
              <a:defRPr sz="1140">
                <a:solidFill>
                  <a:srgbClr val="414141"/>
                </a:solidFill>
                <a:latin typeface="MTS Text"/>
              </a:defRPr>
            </a:pPr>
            <a:r>
              <a:t>B7 · 10 МГц · 25,20 Мбит/с · 3 UE</a:t>
            </a:r>
          </a:p>
        </p:txBody>
      </p:sp>
      <p:sp>
        <p:nvSpPr>
          <p:cNvPr id="185" name="TextBox 184"/>
          <p:cNvSpPr txBox="1"/>
          <p:nvPr/>
        </p:nvSpPr>
        <p:spPr>
          <a:xfrm>
            <a:off x="228600" y="4873752"/>
            <a:ext cx="7772400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073"/>
              </a:lnSpc>
              <a:spcBef>
                <a:spcPts val="0"/>
              </a:spcBef>
              <a:spcAft>
                <a:spcPts val="0"/>
              </a:spcAft>
              <a:defRPr sz="910">
                <a:solidFill>
                  <a:srgbClr val="666666"/>
                </a:solidFill>
                <a:latin typeface="MTS Text"/>
              </a:defRPr>
            </a:pPr>
            <a:r>
              <a:t>Без CA резерв для 14-го UE отсутствует; прежнее правило k=1,10 даёт два сектора.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E1C9FF"/>
            </a:gs>
            <a:gs pos="100000">
              <a:srgbClr val="FFE9E4"/>
            </a:gs>
          </a:gsLst>
          <a:lin ang="5400700" scaled="0"/>
        </a:gradFill>
        <a:effectLst/>
      </p:bgPr>
    </p:bg>
    <p:spTree>
      <p:nvGrpSpPr>
        <p:cNvPr id="1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9" name="Google Shape;189;p22" title="ьеы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37875" y="0"/>
            <a:ext cx="606125" cy="606125"/>
          </a:xfrm>
          <a:prstGeom prst="rect">
            <a:avLst/>
          </a:prstGeom>
          <a:noFill/>
          <a:ln>
            <a:noFill/>
          </a:ln>
        </p:spPr>
      </p:pic>
      <p:sp>
        <p:nvSpPr>
          <p:cNvPr id="190" name="Rounded Rectangle 189"/>
          <p:cNvSpPr/>
          <p:nvPr/>
        </p:nvSpPr>
        <p:spPr>
          <a:xfrm>
            <a:off x="182880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182880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Автор</a:t>
            </a:r>
          </a:p>
        </p:txBody>
      </p:sp>
      <p:sp>
        <p:nvSpPr>
          <p:cNvPr id="192" name="Rounded Rectangle 191"/>
          <p:cNvSpPr/>
          <p:nvPr/>
        </p:nvSpPr>
        <p:spPr>
          <a:xfrm>
            <a:off x="1490472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1490472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Ёмкость</a:t>
            </a:r>
          </a:p>
        </p:txBody>
      </p:sp>
      <p:sp>
        <p:nvSpPr>
          <p:cNvPr id="194" name="Rounded Rectangle 193"/>
          <p:cNvSpPr/>
          <p:nvPr/>
        </p:nvSpPr>
        <p:spPr>
          <a:xfrm>
            <a:off x="2798064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00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2798064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FFFFFF"/>
                </a:solidFill>
                <a:latin typeface="MTS Text"/>
              </a:defRPr>
            </a:pPr>
            <a:r>
              <a:t>Схема DAS</a:t>
            </a:r>
          </a:p>
        </p:txBody>
      </p:sp>
      <p:sp>
        <p:nvSpPr>
          <p:cNvPr id="196" name="Rounded Rectangle 195"/>
          <p:cNvSpPr/>
          <p:nvPr/>
        </p:nvSpPr>
        <p:spPr>
          <a:xfrm>
            <a:off x="4105656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4105656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Покрытие</a:t>
            </a:r>
          </a:p>
        </p:txBody>
      </p:sp>
      <p:sp>
        <p:nvSpPr>
          <p:cNvPr id="198" name="Rounded Rectangle 197"/>
          <p:cNvSpPr/>
          <p:nvPr/>
        </p:nvSpPr>
        <p:spPr>
          <a:xfrm>
            <a:off x="5413248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5413248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Оборудование</a:t>
            </a:r>
          </a:p>
        </p:txBody>
      </p:sp>
      <p:sp>
        <p:nvSpPr>
          <p:cNvPr id="200" name="Rounded Rectangle 199"/>
          <p:cNvSpPr/>
          <p:nvPr/>
        </p:nvSpPr>
        <p:spPr>
          <a:xfrm>
            <a:off x="6720840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6720840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Итоги</a:t>
            </a:r>
          </a:p>
        </p:txBody>
      </p:sp>
      <p:sp>
        <p:nvSpPr>
          <p:cNvPr id="202" name="TextBox 201"/>
          <p:cNvSpPr txBox="1"/>
          <p:nvPr/>
        </p:nvSpPr>
        <p:spPr>
          <a:xfrm>
            <a:off x="182880" y="713232"/>
            <a:ext cx="8503920" cy="914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>
                <a:solidFill>
                  <a:srgbClr val="414141"/>
                </a:solidFill>
                <a:latin typeface="MTS Wide Medium"/>
              </a:defRPr>
            </a:pPr>
            <a:r>
              <a:t>Один LTE-пул — четыре группы</a:t>
            </a:r>
          </a:p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>
                <a:solidFill>
                  <a:srgbClr val="414141"/>
                </a:solidFill>
                <a:latin typeface="MTS Wide Medium"/>
              </a:defRPr>
            </a:pPr>
            <a:r>
              <a:t>и два независимых RF-дерева</a:t>
            </a:r>
          </a:p>
        </p:txBody>
      </p:sp>
      <p:sp>
        <p:nvSpPr>
          <p:cNvPr id="203" name="TextBox 202"/>
          <p:cNvSpPr txBox="1"/>
          <p:nvPr/>
        </p:nvSpPr>
        <p:spPr>
          <a:xfrm>
            <a:off x="8119872" y="4956048"/>
            <a:ext cx="795528" cy="11887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826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666666"/>
                </a:solidFill>
                <a:latin typeface="MTS Text"/>
              </a:defRPr>
            </a:pPr>
            <a:r>
              <a:t>3 / 6</a:t>
            </a:r>
          </a:p>
        </p:txBody>
      </p:sp>
      <p:sp>
        <p:nvSpPr>
          <p:cNvPr id="204" name="Rounded Rectangle 203"/>
          <p:cNvSpPr/>
          <p:nvPr/>
        </p:nvSpPr>
        <p:spPr>
          <a:xfrm>
            <a:off x="182880" y="1819656"/>
            <a:ext cx="3154680" cy="29626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Rounded Rectangle 204"/>
          <p:cNvSpPr/>
          <p:nvPr/>
        </p:nvSpPr>
        <p:spPr>
          <a:xfrm>
            <a:off x="3474720" y="1819656"/>
            <a:ext cx="5486400" cy="29626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06" name="Picture 205" descr="final-layou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59970" y="1901952"/>
            <a:ext cx="1600499" cy="2624328"/>
          </a:xfrm>
          <a:prstGeom prst="rect">
            <a:avLst/>
          </a:prstGeom>
        </p:spPr>
      </p:pic>
      <p:sp>
        <p:nvSpPr>
          <p:cNvPr id="207" name="TextBox 206"/>
          <p:cNvSpPr txBox="1"/>
          <p:nvPr/>
        </p:nvSpPr>
        <p:spPr>
          <a:xfrm>
            <a:off x="384048" y="4572000"/>
            <a:ext cx="2743200" cy="17373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666666"/>
                </a:solidFill>
                <a:latin typeface="MTS Text"/>
              </a:defRPr>
            </a:pPr>
            <a:r>
              <a:t>План первого этажа · 32 In06</a:t>
            </a:r>
          </a:p>
        </p:txBody>
      </p:sp>
      <p:sp>
        <p:nvSpPr>
          <p:cNvPr id="208" name="TextBox 207"/>
          <p:cNvSpPr txBox="1"/>
          <p:nvPr/>
        </p:nvSpPr>
        <p:spPr>
          <a:xfrm>
            <a:off x="3657600" y="1956816"/>
            <a:ext cx="5120640" cy="30175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2005"/>
              </a:lnSpc>
              <a:spcBef>
                <a:spcPts val="0"/>
              </a:spcBef>
              <a:spcAft>
                <a:spcPts val="0"/>
              </a:spcAft>
              <a:defRPr sz="1700">
                <a:solidFill>
                  <a:srgbClr val="414141"/>
                </a:solidFill>
                <a:latin typeface="MTS Wide Medium"/>
              </a:defRPr>
            </a:pPr>
            <a:r>
              <a:t>На каждой MIMO-ветви</a:t>
            </a:r>
          </a:p>
        </p:txBody>
      </p:sp>
      <p:sp>
        <p:nvSpPr>
          <p:cNvPr id="209" name="TextBox 208"/>
          <p:cNvSpPr txBox="1"/>
          <p:nvPr/>
        </p:nvSpPr>
        <p:spPr>
          <a:xfrm>
            <a:off x="3657600" y="2414016"/>
            <a:ext cx="5120640" cy="32004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770"/>
              </a:lnSpc>
              <a:spcBef>
                <a:spcPts val="0"/>
              </a:spcBef>
              <a:spcAft>
                <a:spcPts val="0"/>
              </a:spcAft>
              <a:defRPr sz="1500">
                <a:solidFill>
                  <a:srgbClr val="414141"/>
                </a:solidFill>
                <a:latin typeface="MTS Text"/>
              </a:defRPr>
            </a:pPr>
            <a:r>
              <a:t>PC221 ×3 → PC211 ×4 → группы Z1–Z4</a:t>
            </a:r>
          </a:p>
        </p:txBody>
      </p:sp>
      <p:sp>
        <p:nvSpPr>
          <p:cNvPr id="210" name="Rounded Rectangle 209"/>
          <p:cNvSpPr/>
          <p:nvPr/>
        </p:nvSpPr>
        <p:spPr>
          <a:xfrm>
            <a:off x="3657600" y="2889504"/>
            <a:ext cx="1170432" cy="521207"/>
          </a:xfrm>
          <a:prstGeom prst="roundRect">
            <a:avLst>
              <a:gd name="adj" fmla="val 10000"/>
            </a:avLst>
          </a:prstGeom>
          <a:solidFill>
            <a:srgbClr val="FFF1F5"/>
          </a:solidFill>
          <a:ln w="9525">
            <a:solidFill>
              <a:srgbClr val="FF00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3657600" y="2999232"/>
            <a:ext cx="1170432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  <a:defRPr sz="1200">
                <a:solidFill>
                  <a:srgbClr val="414141"/>
                </a:solidFill>
                <a:latin typeface="MTS Text"/>
              </a:defRPr>
            </a:pPr>
            <a:r>
              <a:t>Z1: 8 In06</a:t>
            </a:r>
          </a:p>
        </p:txBody>
      </p:sp>
      <p:sp>
        <p:nvSpPr>
          <p:cNvPr id="212" name="Rounded Rectangle 211"/>
          <p:cNvSpPr/>
          <p:nvPr/>
        </p:nvSpPr>
        <p:spPr>
          <a:xfrm>
            <a:off x="4956048" y="2889504"/>
            <a:ext cx="1170432" cy="521207"/>
          </a:xfrm>
          <a:prstGeom prst="roundRect">
            <a:avLst>
              <a:gd name="adj" fmla="val 10000"/>
            </a:avLst>
          </a:prstGeom>
          <a:solidFill>
            <a:srgbClr val="FFF1F5"/>
          </a:solidFill>
          <a:ln w="9525">
            <a:solidFill>
              <a:srgbClr val="FF00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4956048" y="2999232"/>
            <a:ext cx="1170432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  <a:defRPr sz="1200">
                <a:solidFill>
                  <a:srgbClr val="414141"/>
                </a:solidFill>
                <a:latin typeface="MTS Text"/>
              </a:defRPr>
            </a:pPr>
            <a:r>
              <a:t>Z2: 8 In06</a:t>
            </a:r>
          </a:p>
        </p:txBody>
      </p:sp>
      <p:sp>
        <p:nvSpPr>
          <p:cNvPr id="214" name="Rounded Rectangle 213"/>
          <p:cNvSpPr/>
          <p:nvPr/>
        </p:nvSpPr>
        <p:spPr>
          <a:xfrm>
            <a:off x="6254496" y="2889504"/>
            <a:ext cx="1170432" cy="521207"/>
          </a:xfrm>
          <a:prstGeom prst="roundRect">
            <a:avLst>
              <a:gd name="adj" fmla="val 10000"/>
            </a:avLst>
          </a:prstGeom>
          <a:solidFill>
            <a:srgbClr val="FFF1F5"/>
          </a:solidFill>
          <a:ln w="9525">
            <a:solidFill>
              <a:srgbClr val="FF00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6254496" y="2999232"/>
            <a:ext cx="1170432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  <a:defRPr sz="1200">
                <a:solidFill>
                  <a:srgbClr val="414141"/>
                </a:solidFill>
                <a:latin typeface="MTS Text"/>
              </a:defRPr>
            </a:pPr>
            <a:r>
              <a:t>Z3: 8 In06</a:t>
            </a:r>
          </a:p>
        </p:txBody>
      </p:sp>
      <p:sp>
        <p:nvSpPr>
          <p:cNvPr id="216" name="Rounded Rectangle 215"/>
          <p:cNvSpPr/>
          <p:nvPr/>
        </p:nvSpPr>
        <p:spPr>
          <a:xfrm>
            <a:off x="7552944" y="2889504"/>
            <a:ext cx="1170432" cy="521207"/>
          </a:xfrm>
          <a:prstGeom prst="roundRect">
            <a:avLst>
              <a:gd name="adj" fmla="val 10000"/>
            </a:avLst>
          </a:prstGeom>
          <a:solidFill>
            <a:srgbClr val="FFF1F5"/>
          </a:solidFill>
          <a:ln w="9525">
            <a:solidFill>
              <a:srgbClr val="FF0032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7552944" y="2999232"/>
            <a:ext cx="1170432" cy="23774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1416"/>
              </a:lnSpc>
              <a:spcBef>
                <a:spcPts val="0"/>
              </a:spcBef>
              <a:spcAft>
                <a:spcPts val="0"/>
              </a:spcAft>
              <a:defRPr sz="1200">
                <a:solidFill>
                  <a:srgbClr val="414141"/>
                </a:solidFill>
                <a:latin typeface="MTS Text"/>
              </a:defRPr>
            </a:pPr>
            <a:r>
              <a:t>Z4: 8 In06</a:t>
            </a:r>
          </a:p>
        </p:txBody>
      </p:sp>
      <p:sp>
        <p:nvSpPr>
          <p:cNvPr id="218" name="TextBox 217"/>
          <p:cNvSpPr txBox="1"/>
          <p:nvPr/>
        </p:nvSpPr>
        <p:spPr>
          <a:xfrm>
            <a:off x="3657600" y="3639312"/>
            <a:ext cx="5120640" cy="30175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510"/>
              </a:lnSpc>
              <a:spcBef>
                <a:spcPts val="0"/>
              </a:spcBef>
              <a:spcAft>
                <a:spcPts val="0"/>
              </a:spcAft>
              <a:defRPr sz="1280">
                <a:solidFill>
                  <a:srgbClr val="414141"/>
                </a:solidFill>
                <a:latin typeface="MTS Text"/>
              </a:defRPr>
            </a:pPr>
            <a:r>
              <a:t>В группе: 2 напрямую + 2 через PC250 + 4 через PC252</a:t>
            </a:r>
          </a:p>
        </p:txBody>
      </p:sp>
      <p:sp>
        <p:nvSpPr>
          <p:cNvPr id="219" name="TextBox 218"/>
          <p:cNvSpPr txBox="1"/>
          <p:nvPr/>
        </p:nvSpPr>
        <p:spPr>
          <a:xfrm>
            <a:off x="3657600" y="4197096"/>
            <a:ext cx="5120640" cy="329184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Доли мощности: 1/4 · 1/8 · 1/16</a:t>
            </a:r>
          </a:p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M1 и M2 подключены к разным портам антенн.</a:t>
            </a:r>
          </a:p>
        </p:txBody>
      </p:sp>
      <p:sp>
        <p:nvSpPr>
          <p:cNvPr id="220" name="TextBox 219"/>
          <p:cNvSpPr txBox="1"/>
          <p:nvPr/>
        </p:nvSpPr>
        <p:spPr>
          <a:xfrm>
            <a:off x="228600" y="4873752"/>
            <a:ext cx="7772400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073"/>
              </a:lnSpc>
              <a:spcBef>
                <a:spcPts val="0"/>
              </a:spcBef>
              <a:spcAft>
                <a:spcPts val="0"/>
              </a:spcAft>
              <a:defRPr sz="910">
                <a:solidFill>
                  <a:srgbClr val="666666"/>
                </a:solidFill>
                <a:latin typeface="MTS Text"/>
              </a:defRPr>
            </a:pPr>
            <a:r>
              <a:t>Головной узел — проектная зона 104.2. Высоты антенны / UE: 7 / 1,5 м.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E1C9FF"/>
            </a:gs>
            <a:gs pos="100000">
              <a:srgbClr val="FFE9E4"/>
            </a:gs>
          </a:gsLst>
          <a:lin ang="5400700" scaled="0"/>
        </a:gradFill>
        <a:effectLst/>
      </p:bgPr>
    </p:bg>
    <p:spTree>
      <p:nvGrpSpPr>
        <p:cNvPr id="1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8" name="Google Shape;268;p25" title="ьеы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37875" y="0"/>
            <a:ext cx="606125" cy="606125"/>
          </a:xfrm>
          <a:prstGeom prst="rect">
            <a:avLst/>
          </a:prstGeom>
          <a:noFill/>
          <a:ln>
            <a:noFill/>
          </a:ln>
        </p:spPr>
      </p:pic>
      <p:sp>
        <p:nvSpPr>
          <p:cNvPr id="269" name="Rounded Rectangle 268"/>
          <p:cNvSpPr/>
          <p:nvPr/>
        </p:nvSpPr>
        <p:spPr>
          <a:xfrm>
            <a:off x="182880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0" name="TextBox 269"/>
          <p:cNvSpPr txBox="1"/>
          <p:nvPr/>
        </p:nvSpPr>
        <p:spPr>
          <a:xfrm>
            <a:off x="182880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Автор</a:t>
            </a:r>
          </a:p>
        </p:txBody>
      </p:sp>
      <p:sp>
        <p:nvSpPr>
          <p:cNvPr id="271" name="Rounded Rectangle 270"/>
          <p:cNvSpPr/>
          <p:nvPr/>
        </p:nvSpPr>
        <p:spPr>
          <a:xfrm>
            <a:off x="1490472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2" name="TextBox 271"/>
          <p:cNvSpPr txBox="1"/>
          <p:nvPr/>
        </p:nvSpPr>
        <p:spPr>
          <a:xfrm>
            <a:off x="1490472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Ёмкость</a:t>
            </a:r>
          </a:p>
        </p:txBody>
      </p:sp>
      <p:sp>
        <p:nvSpPr>
          <p:cNvPr id="273" name="Rounded Rectangle 272"/>
          <p:cNvSpPr/>
          <p:nvPr/>
        </p:nvSpPr>
        <p:spPr>
          <a:xfrm>
            <a:off x="2798064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4" name="TextBox 273"/>
          <p:cNvSpPr txBox="1"/>
          <p:nvPr/>
        </p:nvSpPr>
        <p:spPr>
          <a:xfrm>
            <a:off x="2798064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Схема DAS</a:t>
            </a:r>
          </a:p>
        </p:txBody>
      </p:sp>
      <p:sp>
        <p:nvSpPr>
          <p:cNvPr id="275" name="Rounded Rectangle 274"/>
          <p:cNvSpPr/>
          <p:nvPr/>
        </p:nvSpPr>
        <p:spPr>
          <a:xfrm>
            <a:off x="4105656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00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6" name="TextBox 275"/>
          <p:cNvSpPr txBox="1"/>
          <p:nvPr/>
        </p:nvSpPr>
        <p:spPr>
          <a:xfrm>
            <a:off x="4105656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FFFFFF"/>
                </a:solidFill>
                <a:latin typeface="MTS Text"/>
              </a:defRPr>
            </a:pPr>
            <a:r>
              <a:t>Покрытие</a:t>
            </a:r>
          </a:p>
        </p:txBody>
      </p:sp>
      <p:sp>
        <p:nvSpPr>
          <p:cNvPr id="277" name="Rounded Rectangle 276"/>
          <p:cNvSpPr/>
          <p:nvPr/>
        </p:nvSpPr>
        <p:spPr>
          <a:xfrm>
            <a:off x="5413248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8" name="TextBox 277"/>
          <p:cNvSpPr txBox="1"/>
          <p:nvPr/>
        </p:nvSpPr>
        <p:spPr>
          <a:xfrm>
            <a:off x="5413248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Оборудование</a:t>
            </a:r>
          </a:p>
        </p:txBody>
      </p:sp>
      <p:sp>
        <p:nvSpPr>
          <p:cNvPr id="279" name="Rounded Rectangle 278"/>
          <p:cNvSpPr/>
          <p:nvPr/>
        </p:nvSpPr>
        <p:spPr>
          <a:xfrm>
            <a:off x="6720840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0" name="TextBox 279"/>
          <p:cNvSpPr txBox="1"/>
          <p:nvPr/>
        </p:nvSpPr>
        <p:spPr>
          <a:xfrm>
            <a:off x="6720840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Итоги</a:t>
            </a:r>
          </a:p>
        </p:txBody>
      </p:sp>
      <p:sp>
        <p:nvSpPr>
          <p:cNvPr id="281" name="TextBox 280"/>
          <p:cNvSpPr txBox="1"/>
          <p:nvPr/>
        </p:nvSpPr>
        <p:spPr>
          <a:xfrm>
            <a:off x="182880" y="713232"/>
            <a:ext cx="8503920" cy="914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>
                <a:solidFill>
                  <a:srgbClr val="414141"/>
                </a:solidFill>
                <a:latin typeface="MTS Wide Medium"/>
              </a:defRPr>
            </a:pPr>
            <a:r>
              <a:t>RSRP и качество DL:</a:t>
            </a:r>
          </a:p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>
                <a:solidFill>
                  <a:srgbClr val="414141"/>
                </a:solidFill>
                <a:latin typeface="MTS Wide Medium"/>
              </a:defRPr>
            </a:pPr>
            <a:r>
              <a:t>результаты условных сценариев</a:t>
            </a:r>
          </a:p>
        </p:txBody>
      </p:sp>
      <p:sp>
        <p:nvSpPr>
          <p:cNvPr id="282" name="TextBox 281"/>
          <p:cNvSpPr txBox="1"/>
          <p:nvPr/>
        </p:nvSpPr>
        <p:spPr>
          <a:xfrm>
            <a:off x="8119872" y="4956048"/>
            <a:ext cx="795528" cy="11887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826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666666"/>
                </a:solidFill>
                <a:latin typeface="MTS Text"/>
              </a:defRPr>
            </a:pPr>
            <a:r>
              <a:t>4 / 6</a:t>
            </a:r>
          </a:p>
        </p:txBody>
      </p:sp>
      <p:sp>
        <p:nvSpPr>
          <p:cNvPr id="283" name="Rounded Rectangle 282"/>
          <p:cNvSpPr/>
          <p:nvPr/>
        </p:nvSpPr>
        <p:spPr>
          <a:xfrm>
            <a:off x="182880" y="1819656"/>
            <a:ext cx="3154680" cy="29626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4" name="Rounded Rectangle 283"/>
          <p:cNvSpPr/>
          <p:nvPr/>
        </p:nvSpPr>
        <p:spPr>
          <a:xfrm>
            <a:off x="3474720" y="1819656"/>
            <a:ext cx="5486400" cy="296265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85" name="Picture 284" descr="rsrp-2600-n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700" y="1911095"/>
            <a:ext cx="1873038" cy="2670048"/>
          </a:xfrm>
          <a:prstGeom prst="rect">
            <a:avLst/>
          </a:prstGeom>
        </p:spPr>
      </p:pic>
      <p:sp>
        <p:nvSpPr>
          <p:cNvPr id="286" name="TextBox 285"/>
          <p:cNvSpPr txBox="1"/>
          <p:nvPr/>
        </p:nvSpPr>
        <p:spPr>
          <a:xfrm>
            <a:off x="365760" y="4581144"/>
            <a:ext cx="2788920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1121"/>
              </a:lnSpc>
              <a:spcBef>
                <a:spcPts val="0"/>
              </a:spcBef>
              <a:spcAft>
                <a:spcPts val="0"/>
              </a:spcAft>
              <a:defRPr sz="950">
                <a:solidFill>
                  <a:srgbClr val="666666"/>
                </a:solidFill>
                <a:latin typeface="MTS Text"/>
              </a:defRPr>
            </a:pPr>
            <a:r>
              <a:t>B7 · n=3 · карта с шагом 0,25 м</a:t>
            </a:r>
          </a:p>
        </p:txBody>
      </p:sp>
      <p:sp>
        <p:nvSpPr>
          <p:cNvPr id="287" name="TextBox 286"/>
          <p:cNvSpPr txBox="1"/>
          <p:nvPr/>
        </p:nvSpPr>
        <p:spPr>
          <a:xfrm>
            <a:off x="3657600" y="1947672"/>
            <a:ext cx="512064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652"/>
              </a:lnSpc>
              <a:spcBef>
                <a:spcPts val="0"/>
              </a:spcBef>
              <a:spcAft>
                <a:spcPts val="0"/>
              </a:spcAft>
              <a:defRPr sz="1400">
                <a:solidFill>
                  <a:srgbClr val="414141"/>
                </a:solidFill>
                <a:latin typeface="MTS Wide Medium"/>
              </a:defRPr>
            </a:pPr>
            <a:r>
              <a:t>RSRP &gt; −90 дБм · доля от 2100 м²</a:t>
            </a:r>
          </a:p>
        </p:txBody>
      </p:sp>
      <p:sp>
        <p:nvSpPr>
          <p:cNvPr id="288" name="TextBox 287"/>
          <p:cNvSpPr txBox="1"/>
          <p:nvPr/>
        </p:nvSpPr>
        <p:spPr>
          <a:xfrm>
            <a:off x="3657600" y="2441448"/>
            <a:ext cx="2194560" cy="2103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666666"/>
                </a:solidFill>
                <a:latin typeface="MTS Text"/>
              </a:defRPr>
            </a:pPr>
            <a:r>
              <a:t>Расчётный режим</a:t>
            </a:r>
          </a:p>
        </p:txBody>
      </p:sp>
      <p:sp>
        <p:nvSpPr>
          <p:cNvPr id="289" name="TextBox 288"/>
          <p:cNvSpPr txBox="1"/>
          <p:nvPr/>
        </p:nvSpPr>
        <p:spPr>
          <a:xfrm>
            <a:off x="5989320" y="2441448"/>
            <a:ext cx="731520" cy="2103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666666"/>
                </a:solidFill>
                <a:latin typeface="MTS Text"/>
              </a:defRPr>
            </a:pPr>
            <a:r>
              <a:t>B3</a:t>
            </a:r>
          </a:p>
        </p:txBody>
      </p:sp>
      <p:sp>
        <p:nvSpPr>
          <p:cNvPr id="290" name="TextBox 289"/>
          <p:cNvSpPr txBox="1"/>
          <p:nvPr/>
        </p:nvSpPr>
        <p:spPr>
          <a:xfrm>
            <a:off x="6903720" y="2441448"/>
            <a:ext cx="731520" cy="2103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666666"/>
                </a:solidFill>
                <a:latin typeface="MTS Text"/>
              </a:defRPr>
            </a:pPr>
            <a:r>
              <a:t>B1</a:t>
            </a:r>
          </a:p>
        </p:txBody>
      </p:sp>
      <p:sp>
        <p:nvSpPr>
          <p:cNvPr id="291" name="TextBox 290"/>
          <p:cNvSpPr txBox="1"/>
          <p:nvPr/>
        </p:nvSpPr>
        <p:spPr>
          <a:xfrm>
            <a:off x="7863840" y="2441448"/>
            <a:ext cx="822960" cy="21031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666666"/>
                </a:solidFill>
                <a:latin typeface="MTS Text"/>
              </a:defRPr>
            </a:pPr>
            <a:r>
              <a:t>B7</a:t>
            </a:r>
          </a:p>
        </p:txBody>
      </p:sp>
      <p:sp>
        <p:nvSpPr>
          <p:cNvPr id="292" name="TextBox 291"/>
          <p:cNvSpPr txBox="1"/>
          <p:nvPr/>
        </p:nvSpPr>
        <p:spPr>
          <a:xfrm>
            <a:off x="3657600" y="2770632"/>
            <a:ext cx="228600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60">
                <a:solidFill>
                  <a:srgbClr val="414141"/>
                </a:solidFill>
                <a:latin typeface="MTS Text"/>
              </a:defRPr>
            </a:pPr>
            <a:r>
              <a:t>n=3</a:t>
            </a:r>
          </a:p>
        </p:txBody>
      </p:sp>
      <p:sp>
        <p:nvSpPr>
          <p:cNvPr id="293" name="TextBox 292"/>
          <p:cNvSpPr txBox="1"/>
          <p:nvPr/>
        </p:nvSpPr>
        <p:spPr>
          <a:xfrm>
            <a:off x="5989320" y="2770632"/>
            <a:ext cx="86868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96,48%</a:t>
            </a:r>
          </a:p>
        </p:txBody>
      </p:sp>
      <p:sp>
        <p:nvSpPr>
          <p:cNvPr id="294" name="TextBox 293"/>
          <p:cNvSpPr txBox="1"/>
          <p:nvPr/>
        </p:nvSpPr>
        <p:spPr>
          <a:xfrm>
            <a:off x="6903720" y="2770632"/>
            <a:ext cx="86868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96,45%</a:t>
            </a:r>
          </a:p>
        </p:txBody>
      </p:sp>
      <p:sp>
        <p:nvSpPr>
          <p:cNvPr id="295" name="TextBox 294"/>
          <p:cNvSpPr txBox="1"/>
          <p:nvPr/>
        </p:nvSpPr>
        <p:spPr>
          <a:xfrm>
            <a:off x="7863840" y="2770632"/>
            <a:ext cx="86868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96,37%</a:t>
            </a:r>
          </a:p>
        </p:txBody>
      </p:sp>
      <p:sp>
        <p:nvSpPr>
          <p:cNvPr id="296" name="TextBox 295"/>
          <p:cNvSpPr txBox="1"/>
          <p:nvPr/>
        </p:nvSpPr>
        <p:spPr>
          <a:xfrm>
            <a:off x="3657600" y="3044951"/>
            <a:ext cx="228600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60">
                <a:solidFill>
                  <a:srgbClr val="414141"/>
                </a:solidFill>
                <a:latin typeface="MTS Text"/>
              </a:defRPr>
            </a:pPr>
            <a:r>
              <a:t>n=3, закрытые проёмы</a:t>
            </a:r>
          </a:p>
        </p:txBody>
      </p:sp>
      <p:sp>
        <p:nvSpPr>
          <p:cNvPr id="297" name="TextBox 296"/>
          <p:cNvSpPr txBox="1"/>
          <p:nvPr/>
        </p:nvSpPr>
        <p:spPr>
          <a:xfrm>
            <a:off x="5989320" y="3044951"/>
            <a:ext cx="86868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96,12%</a:t>
            </a:r>
          </a:p>
        </p:txBody>
      </p:sp>
      <p:sp>
        <p:nvSpPr>
          <p:cNvPr id="298" name="TextBox 297"/>
          <p:cNvSpPr txBox="1"/>
          <p:nvPr/>
        </p:nvSpPr>
        <p:spPr>
          <a:xfrm>
            <a:off x="6903720" y="3044951"/>
            <a:ext cx="86868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96,02%</a:t>
            </a:r>
          </a:p>
        </p:txBody>
      </p:sp>
      <p:sp>
        <p:nvSpPr>
          <p:cNvPr id="299" name="TextBox 298"/>
          <p:cNvSpPr txBox="1"/>
          <p:nvPr/>
        </p:nvSpPr>
        <p:spPr>
          <a:xfrm>
            <a:off x="7863840" y="3044951"/>
            <a:ext cx="86868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95,85%</a:t>
            </a:r>
          </a:p>
        </p:txBody>
      </p:sp>
      <p:sp>
        <p:nvSpPr>
          <p:cNvPr id="300" name="TextBox 299"/>
          <p:cNvSpPr txBox="1"/>
          <p:nvPr/>
        </p:nvSpPr>
        <p:spPr>
          <a:xfrm>
            <a:off x="3657600" y="3319272"/>
            <a:ext cx="228600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50"/>
              </a:lnSpc>
              <a:spcBef>
                <a:spcPts val="0"/>
              </a:spcBef>
              <a:spcAft>
                <a:spcPts val="0"/>
              </a:spcAft>
              <a:defRPr sz="1060">
                <a:solidFill>
                  <a:srgbClr val="FF0032"/>
                </a:solidFill>
                <a:latin typeface="MTS Text"/>
              </a:defRPr>
            </a:pPr>
            <a:r>
              <a:t>P2: 23 дБм на несущую</a:t>
            </a:r>
          </a:p>
        </p:txBody>
      </p:sp>
      <p:sp>
        <p:nvSpPr>
          <p:cNvPr id="301" name="TextBox 300"/>
          <p:cNvSpPr txBox="1"/>
          <p:nvPr/>
        </p:nvSpPr>
        <p:spPr>
          <a:xfrm>
            <a:off x="5989320" y="3319272"/>
            <a:ext cx="86868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FF0032"/>
                </a:solidFill>
                <a:latin typeface="MTS Text"/>
              </a:defRPr>
            </a:pPr>
            <a:r>
              <a:t>94,49%</a:t>
            </a:r>
          </a:p>
        </p:txBody>
      </p:sp>
      <p:sp>
        <p:nvSpPr>
          <p:cNvPr id="302" name="TextBox 301"/>
          <p:cNvSpPr txBox="1"/>
          <p:nvPr/>
        </p:nvSpPr>
        <p:spPr>
          <a:xfrm>
            <a:off x="6903720" y="3319272"/>
            <a:ext cx="86868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FF0032"/>
                </a:solidFill>
                <a:latin typeface="MTS Text"/>
              </a:defRPr>
            </a:pPr>
            <a:r>
              <a:t>93,52%</a:t>
            </a:r>
          </a:p>
        </p:txBody>
      </p:sp>
      <p:sp>
        <p:nvSpPr>
          <p:cNvPr id="303" name="TextBox 302"/>
          <p:cNvSpPr txBox="1"/>
          <p:nvPr/>
        </p:nvSpPr>
        <p:spPr>
          <a:xfrm>
            <a:off x="7863840" y="3319272"/>
            <a:ext cx="868680" cy="219456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FF0032"/>
                </a:solidFill>
                <a:latin typeface="MTS Text"/>
              </a:defRPr>
            </a:pPr>
            <a:r>
              <a:t>91,68%</a:t>
            </a:r>
          </a:p>
        </p:txBody>
      </p:sp>
      <p:sp>
        <p:nvSpPr>
          <p:cNvPr id="304" name="TextBox 303"/>
          <p:cNvSpPr txBox="1"/>
          <p:nvPr/>
        </p:nvSpPr>
        <p:spPr>
          <a:xfrm>
            <a:off x="3657600" y="3703320"/>
            <a:ext cx="50749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56"/>
              </a:lnSpc>
              <a:spcBef>
                <a:spcPts val="0"/>
              </a:spcBef>
              <a:spcAft>
                <a:spcPts val="0"/>
              </a:spcAft>
              <a:defRPr sz="1150">
                <a:solidFill>
                  <a:srgbClr val="414141"/>
                </a:solidFill>
                <a:latin typeface="MTS Text"/>
              </a:defRPr>
            </a:pPr>
            <a:r>
              <a:t>L2 / B7: SINR ≥17 — 96,75%</a:t>
            </a:r>
          </a:p>
          <a:p>
            <a:pPr algn="l">
              <a:lnSpc>
                <a:spcPts val="1356"/>
              </a:lnSpc>
              <a:spcBef>
                <a:spcPts val="0"/>
              </a:spcBef>
              <a:spcAft>
                <a:spcPts val="0"/>
              </a:spcAft>
              <a:defRPr sz="1150">
                <a:solidFill>
                  <a:srgbClr val="414141"/>
                </a:solidFill>
                <a:latin typeface="MTS Text"/>
              </a:defRPr>
            </a:pPr>
            <a:r>
              <a:t>RSRQ &gt;−12 — 97,59%</a:t>
            </a:r>
          </a:p>
        </p:txBody>
      </p:sp>
      <p:sp>
        <p:nvSpPr>
          <p:cNvPr id="305" name="TextBox 304"/>
          <p:cNvSpPr txBox="1"/>
          <p:nvPr/>
        </p:nvSpPr>
        <p:spPr>
          <a:xfrm>
            <a:off x="3657600" y="4279392"/>
            <a:ext cx="50749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38"/>
              </a:lnSpc>
              <a:spcBef>
                <a:spcPts val="0"/>
              </a:spcBef>
              <a:spcAft>
                <a:spcPts val="0"/>
              </a:spcAft>
              <a:defRPr sz="1050">
                <a:solidFill>
                  <a:srgbClr val="414141"/>
                </a:solidFill>
                <a:latin typeface="MTS Text"/>
              </a:defRPr>
            </a:pPr>
            <a:r>
              <a:t>DCS: C/I &gt;20 — 96,53% при I=−70 дБм</a:t>
            </a:r>
          </a:p>
        </p:txBody>
      </p:sp>
      <p:sp>
        <p:nvSpPr>
          <p:cNvPr id="306" name="TextBox 305"/>
          <p:cNvSpPr txBox="1"/>
          <p:nvPr/>
        </p:nvSpPr>
        <p:spPr>
          <a:xfrm>
            <a:off x="228600" y="4873752"/>
            <a:ext cx="7772400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038"/>
              </a:lnSpc>
              <a:spcBef>
                <a:spcPts val="0"/>
              </a:spcBef>
              <a:spcAft>
                <a:spcPts val="0"/>
              </a:spcAft>
              <a:defRPr sz="880">
                <a:solidFill>
                  <a:srgbClr val="666666"/>
                </a:solidFill>
                <a:latin typeface="MTS Text"/>
              </a:defRPr>
            </a:pPr>
            <a:r>
              <a:t>L2: P1, n=2,5; NF=7 дБ, β=0,5, ρ=0,8; I=−115 дБм/15 кГц. DCS: I в полосе 200 кГц.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E1C9FF"/>
            </a:gs>
            <a:gs pos="100000">
              <a:srgbClr val="FFE9E4"/>
            </a:gs>
          </a:gsLst>
          <a:lin ang="5400700" scaled="0"/>
        </a:gradFill>
        <a:effectLst/>
      </p:bgPr>
    </p:bg>
    <p:spTree>
      <p:nvGrpSpPr>
        <p:cNvPr id="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0" name="Google Shape;340;p28" title="ьеы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37875" y="0"/>
            <a:ext cx="606125" cy="606125"/>
          </a:xfrm>
          <a:prstGeom prst="rect">
            <a:avLst/>
          </a:prstGeom>
          <a:noFill/>
          <a:ln>
            <a:noFill/>
          </a:ln>
        </p:spPr>
      </p:pic>
      <p:sp>
        <p:nvSpPr>
          <p:cNvPr id="341" name="Rounded Rectangle 340"/>
          <p:cNvSpPr/>
          <p:nvPr/>
        </p:nvSpPr>
        <p:spPr>
          <a:xfrm>
            <a:off x="182880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2" name="TextBox 341"/>
          <p:cNvSpPr txBox="1"/>
          <p:nvPr/>
        </p:nvSpPr>
        <p:spPr>
          <a:xfrm>
            <a:off x="182880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Автор</a:t>
            </a:r>
          </a:p>
        </p:txBody>
      </p:sp>
      <p:sp>
        <p:nvSpPr>
          <p:cNvPr id="343" name="Rounded Rectangle 342"/>
          <p:cNvSpPr/>
          <p:nvPr/>
        </p:nvSpPr>
        <p:spPr>
          <a:xfrm>
            <a:off x="1490472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4" name="TextBox 343"/>
          <p:cNvSpPr txBox="1"/>
          <p:nvPr/>
        </p:nvSpPr>
        <p:spPr>
          <a:xfrm>
            <a:off x="1490472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Ёмкость</a:t>
            </a:r>
          </a:p>
        </p:txBody>
      </p:sp>
      <p:sp>
        <p:nvSpPr>
          <p:cNvPr id="345" name="Rounded Rectangle 344"/>
          <p:cNvSpPr/>
          <p:nvPr/>
        </p:nvSpPr>
        <p:spPr>
          <a:xfrm>
            <a:off x="2798064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6" name="TextBox 345"/>
          <p:cNvSpPr txBox="1"/>
          <p:nvPr/>
        </p:nvSpPr>
        <p:spPr>
          <a:xfrm>
            <a:off x="2798064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Схема DAS</a:t>
            </a:r>
          </a:p>
        </p:txBody>
      </p:sp>
      <p:sp>
        <p:nvSpPr>
          <p:cNvPr id="347" name="Rounded Rectangle 346"/>
          <p:cNvSpPr/>
          <p:nvPr/>
        </p:nvSpPr>
        <p:spPr>
          <a:xfrm>
            <a:off x="4105656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8" name="TextBox 347"/>
          <p:cNvSpPr txBox="1"/>
          <p:nvPr/>
        </p:nvSpPr>
        <p:spPr>
          <a:xfrm>
            <a:off x="4105656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Покрытие</a:t>
            </a:r>
          </a:p>
        </p:txBody>
      </p:sp>
      <p:sp>
        <p:nvSpPr>
          <p:cNvPr id="349" name="Rounded Rectangle 348"/>
          <p:cNvSpPr/>
          <p:nvPr/>
        </p:nvSpPr>
        <p:spPr>
          <a:xfrm>
            <a:off x="5413248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00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0" name="TextBox 349"/>
          <p:cNvSpPr txBox="1"/>
          <p:nvPr/>
        </p:nvSpPr>
        <p:spPr>
          <a:xfrm>
            <a:off x="5413248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FFFFFF"/>
                </a:solidFill>
                <a:latin typeface="MTS Text"/>
              </a:defRPr>
            </a:pPr>
            <a:r>
              <a:t>Оборудование</a:t>
            </a:r>
          </a:p>
        </p:txBody>
      </p:sp>
      <p:sp>
        <p:nvSpPr>
          <p:cNvPr id="351" name="Rounded Rectangle 350"/>
          <p:cNvSpPr/>
          <p:nvPr/>
        </p:nvSpPr>
        <p:spPr>
          <a:xfrm>
            <a:off x="6720840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2" name="TextBox 351"/>
          <p:cNvSpPr txBox="1"/>
          <p:nvPr/>
        </p:nvSpPr>
        <p:spPr>
          <a:xfrm>
            <a:off x="6720840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Итоги</a:t>
            </a:r>
          </a:p>
        </p:txBody>
      </p:sp>
      <p:sp>
        <p:nvSpPr>
          <p:cNvPr id="353" name="TextBox 352"/>
          <p:cNvSpPr txBox="1"/>
          <p:nvPr/>
        </p:nvSpPr>
        <p:spPr>
          <a:xfrm>
            <a:off x="182880" y="713232"/>
            <a:ext cx="8503920" cy="914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>
                <a:solidFill>
                  <a:srgbClr val="414141"/>
                </a:solidFill>
                <a:latin typeface="MTS Wide Medium"/>
              </a:defRPr>
            </a:pPr>
            <a:r>
              <a:t>Оборудование и трассы</a:t>
            </a:r>
          </a:p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>
                <a:solidFill>
                  <a:srgbClr val="414141"/>
                </a:solidFill>
                <a:latin typeface="MTS Wide Medium"/>
              </a:defRPr>
            </a:pPr>
            <a:r>
              <a:t>следуют одной схеме</a:t>
            </a:r>
          </a:p>
        </p:txBody>
      </p:sp>
      <p:sp>
        <p:nvSpPr>
          <p:cNvPr id="354" name="TextBox 353"/>
          <p:cNvSpPr txBox="1"/>
          <p:nvPr/>
        </p:nvSpPr>
        <p:spPr>
          <a:xfrm>
            <a:off x="8119872" y="4956048"/>
            <a:ext cx="795528" cy="11887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826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666666"/>
                </a:solidFill>
                <a:latin typeface="MTS Text"/>
              </a:defRPr>
            </a:pPr>
            <a:r>
              <a:t>5 / 6</a:t>
            </a:r>
          </a:p>
        </p:txBody>
      </p:sp>
      <p:sp>
        <p:nvSpPr>
          <p:cNvPr id="355" name="Rounded Rectangle 354"/>
          <p:cNvSpPr/>
          <p:nvPr/>
        </p:nvSpPr>
        <p:spPr>
          <a:xfrm>
            <a:off x="182880" y="1819656"/>
            <a:ext cx="2871216" cy="1399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6" name="TextBox 355"/>
          <p:cNvSpPr txBox="1"/>
          <p:nvPr/>
        </p:nvSpPr>
        <p:spPr>
          <a:xfrm>
            <a:off x="338328" y="1947672"/>
            <a:ext cx="25603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АНТЕННЫ</a:t>
            </a:r>
          </a:p>
        </p:txBody>
      </p:sp>
      <p:sp>
        <p:nvSpPr>
          <p:cNvPr id="357" name="TextBox 356"/>
          <p:cNvSpPr txBox="1"/>
          <p:nvPr/>
        </p:nvSpPr>
        <p:spPr>
          <a:xfrm>
            <a:off x="338328" y="2295144"/>
            <a:ext cx="25603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>
                <a:solidFill>
                  <a:srgbClr val="414141"/>
                </a:solidFill>
                <a:latin typeface="MTS Wide Medium"/>
              </a:defRPr>
            </a:pPr>
            <a:r>
              <a:t>32 In06</a:t>
            </a:r>
          </a:p>
        </p:txBody>
      </p:sp>
      <p:sp>
        <p:nvSpPr>
          <p:cNvPr id="358" name="TextBox 357"/>
          <p:cNvSpPr txBox="1"/>
          <p:nvPr/>
        </p:nvSpPr>
        <p:spPr>
          <a:xfrm>
            <a:off x="338328" y="2752344"/>
            <a:ext cx="2560320" cy="39319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Два RF-порта на антенну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64 антенных порта</a:t>
            </a:r>
          </a:p>
        </p:txBody>
      </p:sp>
      <p:sp>
        <p:nvSpPr>
          <p:cNvPr id="359" name="Rounded Rectangle 358"/>
          <p:cNvSpPr/>
          <p:nvPr/>
        </p:nvSpPr>
        <p:spPr>
          <a:xfrm>
            <a:off x="3136392" y="1819656"/>
            <a:ext cx="2871216" cy="1399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0" name="TextBox 359"/>
          <p:cNvSpPr txBox="1"/>
          <p:nvPr/>
        </p:nvSpPr>
        <p:spPr>
          <a:xfrm>
            <a:off x="3291840" y="1947672"/>
            <a:ext cx="25603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ГОЛОВНОЙ УЗЕЛ</a:t>
            </a:r>
          </a:p>
        </p:txBody>
      </p:sp>
      <p:sp>
        <p:nvSpPr>
          <p:cNvPr id="361" name="TextBox 360"/>
          <p:cNvSpPr txBox="1"/>
          <p:nvPr/>
        </p:nvSpPr>
        <p:spPr>
          <a:xfrm>
            <a:off x="3291840" y="2295144"/>
            <a:ext cx="25603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defRPr sz="1720">
                <a:solidFill>
                  <a:srgbClr val="414141"/>
                </a:solidFill>
                <a:latin typeface="MTS Wide Medium"/>
              </a:defRPr>
            </a:pPr>
            <a:r>
              <a:t>6 PC221 · 8 PC211</a:t>
            </a:r>
          </a:p>
        </p:txBody>
      </p:sp>
      <p:sp>
        <p:nvSpPr>
          <p:cNvPr id="362" name="TextBox 361"/>
          <p:cNvSpPr txBox="1"/>
          <p:nvPr/>
        </p:nvSpPr>
        <p:spPr>
          <a:xfrm>
            <a:off x="3291840" y="2752344"/>
            <a:ext cx="2560320" cy="39319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Объединение операторов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и диапазонов B3 / B1 / B7</a:t>
            </a:r>
          </a:p>
        </p:txBody>
      </p:sp>
      <p:sp>
        <p:nvSpPr>
          <p:cNvPr id="363" name="Rounded Rectangle 362"/>
          <p:cNvSpPr/>
          <p:nvPr/>
        </p:nvSpPr>
        <p:spPr>
          <a:xfrm>
            <a:off x="6089904" y="1819656"/>
            <a:ext cx="2871216" cy="1399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4" name="TextBox 363"/>
          <p:cNvSpPr txBox="1"/>
          <p:nvPr/>
        </p:nvSpPr>
        <p:spPr>
          <a:xfrm>
            <a:off x="6245352" y="1947672"/>
            <a:ext cx="25603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РАСПРЕДЕЛИТЕЛИ</a:t>
            </a:r>
          </a:p>
        </p:txBody>
      </p:sp>
      <p:sp>
        <p:nvSpPr>
          <p:cNvPr id="365" name="TextBox 364"/>
          <p:cNvSpPr txBox="1"/>
          <p:nvPr/>
        </p:nvSpPr>
        <p:spPr>
          <a:xfrm>
            <a:off x="6245352" y="2295144"/>
            <a:ext cx="25603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2029"/>
              </a:lnSpc>
              <a:spcBef>
                <a:spcPts val="0"/>
              </a:spcBef>
              <a:spcAft>
                <a:spcPts val="0"/>
              </a:spcAft>
              <a:defRPr sz="1720">
                <a:solidFill>
                  <a:srgbClr val="414141"/>
                </a:solidFill>
                <a:latin typeface="MTS Wide Medium"/>
              </a:defRPr>
            </a:pPr>
            <a:r>
              <a:t>9 PC250 · 16 PC252</a:t>
            </a:r>
          </a:p>
        </p:txBody>
      </p:sp>
      <p:sp>
        <p:nvSpPr>
          <p:cNvPr id="366" name="TextBox 365"/>
          <p:cNvSpPr txBox="1"/>
          <p:nvPr/>
        </p:nvSpPr>
        <p:spPr>
          <a:xfrm>
            <a:off x="6245352" y="2752344"/>
            <a:ext cx="2560320" cy="39319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Парные и четверные группы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Схема распределения 2+2+4</a:t>
            </a:r>
          </a:p>
        </p:txBody>
      </p:sp>
      <p:sp>
        <p:nvSpPr>
          <p:cNvPr id="367" name="Rounded Rectangle 366"/>
          <p:cNvSpPr/>
          <p:nvPr/>
        </p:nvSpPr>
        <p:spPr>
          <a:xfrm>
            <a:off x="182880" y="3328415"/>
            <a:ext cx="2871216" cy="1399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8" name="TextBox 367"/>
          <p:cNvSpPr txBox="1"/>
          <p:nvPr/>
        </p:nvSpPr>
        <p:spPr>
          <a:xfrm>
            <a:off x="338328" y="3456432"/>
            <a:ext cx="25603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КОАКСИАЛ</a:t>
            </a:r>
          </a:p>
        </p:txBody>
      </p:sp>
      <p:sp>
        <p:nvSpPr>
          <p:cNvPr id="369" name="TextBox 368"/>
          <p:cNvSpPr txBox="1"/>
          <p:nvPr/>
        </p:nvSpPr>
        <p:spPr>
          <a:xfrm>
            <a:off x="338328" y="3803904"/>
            <a:ext cx="25603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>
                <a:solidFill>
                  <a:srgbClr val="414141"/>
                </a:solidFill>
                <a:latin typeface="MTS Wide Medium"/>
              </a:defRPr>
            </a:pPr>
            <a:r>
              <a:t>1404 м</a:t>
            </a:r>
          </a:p>
        </p:txBody>
      </p:sp>
      <p:sp>
        <p:nvSpPr>
          <p:cNvPr id="370" name="TextBox 369"/>
          <p:cNvSpPr txBox="1"/>
          <p:nvPr/>
        </p:nvSpPr>
        <p:spPr>
          <a:xfrm>
            <a:off x="338328" y="4261104"/>
            <a:ext cx="2560320" cy="39319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С резервом: 1366 м 7/8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и 179 м 1/2</a:t>
            </a:r>
          </a:p>
        </p:txBody>
      </p:sp>
      <p:sp>
        <p:nvSpPr>
          <p:cNvPr id="371" name="Rounded Rectangle 370"/>
          <p:cNvSpPr/>
          <p:nvPr/>
        </p:nvSpPr>
        <p:spPr>
          <a:xfrm>
            <a:off x="3136392" y="3328415"/>
            <a:ext cx="2871216" cy="1399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2" name="TextBox 371"/>
          <p:cNvSpPr txBox="1"/>
          <p:nvPr/>
        </p:nvSpPr>
        <p:spPr>
          <a:xfrm>
            <a:off x="3291840" y="3456432"/>
            <a:ext cx="25603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СОЕДИНЕНИЯ</a:t>
            </a:r>
          </a:p>
        </p:txBody>
      </p:sp>
      <p:sp>
        <p:nvSpPr>
          <p:cNvPr id="373" name="TextBox 372"/>
          <p:cNvSpPr txBox="1"/>
          <p:nvPr/>
        </p:nvSpPr>
        <p:spPr>
          <a:xfrm>
            <a:off x="3291840" y="3803904"/>
            <a:ext cx="25603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>
                <a:solidFill>
                  <a:srgbClr val="414141"/>
                </a:solidFill>
                <a:latin typeface="MTS Wide Medium"/>
              </a:defRPr>
            </a:pPr>
            <a:r>
              <a:t>168 разъёмов</a:t>
            </a:r>
          </a:p>
        </p:txBody>
      </p:sp>
      <p:sp>
        <p:nvSpPr>
          <p:cNvPr id="374" name="TextBox 373"/>
          <p:cNvSpPr txBox="1"/>
          <p:nvPr/>
        </p:nvSpPr>
        <p:spPr>
          <a:xfrm>
            <a:off x="3291840" y="4261104"/>
            <a:ext cx="2560320" cy="39319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7/8 — 100 шт.; 1/2 — 68 шт.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Исполнения male / female</a:t>
            </a:r>
          </a:p>
        </p:txBody>
      </p:sp>
      <p:sp>
        <p:nvSpPr>
          <p:cNvPr id="375" name="Rounded Rectangle 374"/>
          <p:cNvSpPr/>
          <p:nvPr/>
        </p:nvSpPr>
        <p:spPr>
          <a:xfrm>
            <a:off x="6089904" y="3328415"/>
            <a:ext cx="2871216" cy="1399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6" name="TextBox 375"/>
          <p:cNvSpPr txBox="1"/>
          <p:nvPr/>
        </p:nvSpPr>
        <p:spPr>
          <a:xfrm>
            <a:off x="6245352" y="3456432"/>
            <a:ext cx="25603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ДЖАМПЕРЫ</a:t>
            </a:r>
          </a:p>
        </p:txBody>
      </p:sp>
      <p:sp>
        <p:nvSpPr>
          <p:cNvPr id="377" name="TextBox 376"/>
          <p:cNvSpPr txBox="1"/>
          <p:nvPr/>
        </p:nvSpPr>
        <p:spPr>
          <a:xfrm>
            <a:off x="6245352" y="3803904"/>
            <a:ext cx="25603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>
                <a:solidFill>
                  <a:srgbClr val="414141"/>
                </a:solidFill>
                <a:latin typeface="MTS Wide Medium"/>
              </a:defRPr>
            </a:pPr>
            <a:r>
              <a:t>113 × 3 м</a:t>
            </a:r>
          </a:p>
        </p:txBody>
      </p:sp>
      <p:sp>
        <p:nvSpPr>
          <p:cNvPr id="378" name="TextBox 377"/>
          <p:cNvSpPr txBox="1"/>
          <p:nvPr/>
        </p:nvSpPr>
        <p:spPr>
          <a:xfrm>
            <a:off x="6245352" y="4261104"/>
            <a:ext cx="2560320" cy="393191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101 рабочий + 12 резервных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Включая четыре местных</a:t>
            </a:r>
          </a:p>
        </p:txBody>
      </p:sp>
      <p:sp>
        <p:nvSpPr>
          <p:cNvPr id="379" name="TextBox 378"/>
          <p:cNvSpPr txBox="1"/>
          <p:nvPr/>
        </p:nvSpPr>
        <p:spPr>
          <a:xfrm>
            <a:off x="228600" y="4873752"/>
            <a:ext cx="7772400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073"/>
              </a:lnSpc>
              <a:spcBef>
                <a:spcPts val="0"/>
              </a:spcBef>
              <a:spcAft>
                <a:spcPts val="0"/>
              </a:spcAft>
              <a:defRPr sz="910">
                <a:solidFill>
                  <a:srgbClr val="666666"/>
                </a:solidFill>
                <a:latin typeface="MTS Text"/>
              </a:defRPr>
            </a:pPr>
            <a:r>
              <a:t>Условия комплектации: нагрузки 50 Ом, интерфейсы RF-портов и пожарное исполнение кабелей.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gradFill>
          <a:gsLst>
            <a:gs pos="0">
              <a:srgbClr val="E1C9FF"/>
            </a:gs>
            <a:gs pos="100000">
              <a:srgbClr val="FFE9E4"/>
            </a:gs>
          </a:gsLst>
          <a:lin ang="5400700" scaled="0"/>
        </a:gradFill>
        <a:effectLst/>
      </p:bgPr>
    </p:bg>
    <p:spTree>
      <p:nvGrpSpPr>
        <p:cNvPr id="1" name="Shape 3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85" name="Google Shape;385;p29" title="ьеы.png"/>
          <p:cNvPicPr preferRelativeResize="0"/>
          <p:nvPr/>
        </p:nvPicPr>
        <p:blipFill>
          <a:blip r:embed="rId3">
            <a:alphaModFix/>
          </a:blip>
          <a:stretch>
            <a:fillRect/>
          </a:stretch>
        </p:blipFill>
        <p:spPr>
          <a:xfrm>
            <a:off x="8537875" y="0"/>
            <a:ext cx="606125" cy="606125"/>
          </a:xfrm>
          <a:prstGeom prst="rect">
            <a:avLst/>
          </a:prstGeom>
          <a:noFill/>
          <a:ln>
            <a:noFill/>
          </a:ln>
        </p:spPr>
      </p:pic>
      <p:sp>
        <p:nvSpPr>
          <p:cNvPr id="386" name="Rounded Rectangle 385"/>
          <p:cNvSpPr/>
          <p:nvPr/>
        </p:nvSpPr>
        <p:spPr>
          <a:xfrm>
            <a:off x="182880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7" name="TextBox 386"/>
          <p:cNvSpPr txBox="1"/>
          <p:nvPr/>
        </p:nvSpPr>
        <p:spPr>
          <a:xfrm>
            <a:off x="182880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Автор</a:t>
            </a:r>
          </a:p>
        </p:txBody>
      </p:sp>
      <p:sp>
        <p:nvSpPr>
          <p:cNvPr id="388" name="Rounded Rectangle 387"/>
          <p:cNvSpPr/>
          <p:nvPr/>
        </p:nvSpPr>
        <p:spPr>
          <a:xfrm>
            <a:off x="1490472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9" name="TextBox 388"/>
          <p:cNvSpPr txBox="1"/>
          <p:nvPr/>
        </p:nvSpPr>
        <p:spPr>
          <a:xfrm>
            <a:off x="1490472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Ёмкость</a:t>
            </a:r>
          </a:p>
        </p:txBody>
      </p:sp>
      <p:sp>
        <p:nvSpPr>
          <p:cNvPr id="390" name="Rounded Rectangle 389"/>
          <p:cNvSpPr/>
          <p:nvPr/>
        </p:nvSpPr>
        <p:spPr>
          <a:xfrm>
            <a:off x="2798064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1" name="TextBox 390"/>
          <p:cNvSpPr txBox="1"/>
          <p:nvPr/>
        </p:nvSpPr>
        <p:spPr>
          <a:xfrm>
            <a:off x="2798064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Схема DAS</a:t>
            </a:r>
          </a:p>
        </p:txBody>
      </p:sp>
      <p:sp>
        <p:nvSpPr>
          <p:cNvPr id="392" name="Rounded Rectangle 391"/>
          <p:cNvSpPr/>
          <p:nvPr/>
        </p:nvSpPr>
        <p:spPr>
          <a:xfrm>
            <a:off x="4105656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3" name="TextBox 392"/>
          <p:cNvSpPr txBox="1"/>
          <p:nvPr/>
        </p:nvSpPr>
        <p:spPr>
          <a:xfrm>
            <a:off x="4105656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Покрытие</a:t>
            </a:r>
          </a:p>
        </p:txBody>
      </p:sp>
      <p:sp>
        <p:nvSpPr>
          <p:cNvPr id="394" name="Rounded Rectangle 393"/>
          <p:cNvSpPr/>
          <p:nvPr/>
        </p:nvSpPr>
        <p:spPr>
          <a:xfrm>
            <a:off x="5413248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5" name="TextBox 394"/>
          <p:cNvSpPr txBox="1"/>
          <p:nvPr/>
        </p:nvSpPr>
        <p:spPr>
          <a:xfrm>
            <a:off x="5413248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666666"/>
                </a:solidFill>
                <a:latin typeface="MTS Text"/>
              </a:defRPr>
            </a:pPr>
            <a:r>
              <a:t>Оборудование</a:t>
            </a:r>
          </a:p>
        </p:txBody>
      </p:sp>
      <p:sp>
        <p:nvSpPr>
          <p:cNvPr id="396" name="Rounded Rectangle 395"/>
          <p:cNvSpPr/>
          <p:nvPr/>
        </p:nvSpPr>
        <p:spPr>
          <a:xfrm>
            <a:off x="6720840" y="182880"/>
            <a:ext cx="1243584" cy="256032"/>
          </a:xfrm>
          <a:prstGeom prst="roundRect">
            <a:avLst>
              <a:gd name="adj" fmla="val 10000"/>
            </a:avLst>
          </a:prstGeom>
          <a:solidFill>
            <a:srgbClr val="FF003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7" name="TextBox 396"/>
          <p:cNvSpPr txBox="1"/>
          <p:nvPr/>
        </p:nvSpPr>
        <p:spPr>
          <a:xfrm>
            <a:off x="6720840" y="233172"/>
            <a:ext cx="1243584" cy="16459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ctr">
              <a:lnSpc>
                <a:spcPts val="991"/>
              </a:lnSpc>
              <a:spcBef>
                <a:spcPts val="0"/>
              </a:spcBef>
              <a:spcAft>
                <a:spcPts val="0"/>
              </a:spcAft>
              <a:defRPr sz="840">
                <a:solidFill>
                  <a:srgbClr val="FFFFFF"/>
                </a:solidFill>
                <a:latin typeface="MTS Text"/>
              </a:defRPr>
            </a:pPr>
            <a:r>
              <a:t>Итоги</a:t>
            </a:r>
          </a:p>
        </p:txBody>
      </p:sp>
      <p:sp>
        <p:nvSpPr>
          <p:cNvPr id="398" name="TextBox 397"/>
          <p:cNvSpPr txBox="1"/>
          <p:nvPr/>
        </p:nvSpPr>
        <p:spPr>
          <a:xfrm>
            <a:off x="182880" y="713232"/>
            <a:ext cx="8503920" cy="9144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>
                <a:solidFill>
                  <a:srgbClr val="414141"/>
                </a:solidFill>
                <a:latin typeface="MTS Wide Medium"/>
              </a:defRPr>
            </a:pPr>
            <a:r>
              <a:t>Три решения, которые</a:t>
            </a:r>
          </a:p>
          <a:p>
            <a:pPr algn="l">
              <a:lnSpc>
                <a:spcPts val="3304"/>
              </a:lnSpc>
              <a:spcBef>
                <a:spcPts val="0"/>
              </a:spcBef>
              <a:spcAft>
                <a:spcPts val="0"/>
              </a:spcAft>
              <a:defRPr sz="2800">
                <a:solidFill>
                  <a:srgbClr val="414141"/>
                </a:solidFill>
                <a:latin typeface="MTS Wide Medium"/>
              </a:defRPr>
            </a:pPr>
            <a:r>
              <a:t>определяют результат</a:t>
            </a:r>
          </a:p>
        </p:txBody>
      </p:sp>
      <p:sp>
        <p:nvSpPr>
          <p:cNvPr id="399" name="TextBox 398"/>
          <p:cNvSpPr txBox="1"/>
          <p:nvPr/>
        </p:nvSpPr>
        <p:spPr>
          <a:xfrm>
            <a:off x="8119872" y="4956048"/>
            <a:ext cx="795528" cy="11887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r">
              <a:lnSpc>
                <a:spcPts val="826"/>
              </a:lnSpc>
              <a:spcBef>
                <a:spcPts val="0"/>
              </a:spcBef>
              <a:spcAft>
                <a:spcPts val="0"/>
              </a:spcAft>
              <a:defRPr sz="700">
                <a:solidFill>
                  <a:srgbClr val="666666"/>
                </a:solidFill>
                <a:latin typeface="MTS Text"/>
              </a:defRPr>
            </a:pPr>
            <a:r>
              <a:t>6 / 6</a:t>
            </a:r>
          </a:p>
        </p:txBody>
      </p:sp>
      <p:sp>
        <p:nvSpPr>
          <p:cNvPr id="400" name="Rounded Rectangle 399"/>
          <p:cNvSpPr/>
          <p:nvPr/>
        </p:nvSpPr>
        <p:spPr>
          <a:xfrm>
            <a:off x="182880" y="1874519"/>
            <a:ext cx="2871216" cy="14996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1" name="TextBox 400"/>
          <p:cNvSpPr txBox="1"/>
          <p:nvPr/>
        </p:nvSpPr>
        <p:spPr>
          <a:xfrm>
            <a:off x="338328" y="2002536"/>
            <a:ext cx="25603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МОДЕЛЬ СПРОСА</a:t>
            </a:r>
          </a:p>
        </p:txBody>
      </p:sp>
      <p:sp>
        <p:nvSpPr>
          <p:cNvPr id="402" name="TextBox 401"/>
          <p:cNvSpPr txBox="1"/>
          <p:nvPr/>
        </p:nvSpPr>
        <p:spPr>
          <a:xfrm>
            <a:off x="338328" y="2350008"/>
            <a:ext cx="25603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>
                <a:solidFill>
                  <a:srgbClr val="414141"/>
                </a:solidFill>
                <a:latin typeface="MTS Wide Medium"/>
              </a:defRPr>
            </a:pPr>
            <a:r>
              <a:t>1 LTE-сектор</a:t>
            </a:r>
          </a:p>
        </p:txBody>
      </p:sp>
      <p:sp>
        <p:nvSpPr>
          <p:cNvPr id="403" name="TextBox 402"/>
          <p:cNvSpPr txBox="1"/>
          <p:nvPr/>
        </p:nvSpPr>
        <p:spPr>
          <a:xfrm>
            <a:off x="338328" y="2807208"/>
            <a:ext cx="2560320" cy="4937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13 пользователей с данными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104 Мбит/с полезного DL</a:t>
            </a:r>
          </a:p>
        </p:txBody>
      </p:sp>
      <p:sp>
        <p:nvSpPr>
          <p:cNvPr id="404" name="Rounded Rectangle 403"/>
          <p:cNvSpPr/>
          <p:nvPr/>
        </p:nvSpPr>
        <p:spPr>
          <a:xfrm>
            <a:off x="3136392" y="1874519"/>
            <a:ext cx="2871216" cy="14996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5" name="TextBox 404"/>
          <p:cNvSpPr txBox="1"/>
          <p:nvPr/>
        </p:nvSpPr>
        <p:spPr>
          <a:xfrm>
            <a:off x="3291840" y="2002536"/>
            <a:ext cx="25603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РАЗМЕЩЕНИЕ</a:t>
            </a:r>
          </a:p>
        </p:txBody>
      </p:sp>
      <p:sp>
        <p:nvSpPr>
          <p:cNvPr id="406" name="TextBox 405"/>
          <p:cNvSpPr txBox="1"/>
          <p:nvPr/>
        </p:nvSpPr>
        <p:spPr>
          <a:xfrm>
            <a:off x="3291840" y="2350008"/>
            <a:ext cx="25603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>
                <a:solidFill>
                  <a:srgbClr val="414141"/>
                </a:solidFill>
                <a:latin typeface="MTS Wide Medium"/>
              </a:defRPr>
            </a:pPr>
            <a:r>
              <a:t>32 антенны</a:t>
            </a:r>
          </a:p>
        </p:txBody>
      </p:sp>
      <p:sp>
        <p:nvSpPr>
          <p:cNvPr id="407" name="TextBox 406"/>
          <p:cNvSpPr txBox="1"/>
          <p:nvPr/>
        </p:nvSpPr>
        <p:spPr>
          <a:xfrm>
            <a:off x="3291840" y="2807208"/>
            <a:ext cx="2560320" cy="4937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B7 при n=3: 96,37%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Две независимые MIMO-ветви</a:t>
            </a:r>
          </a:p>
        </p:txBody>
      </p:sp>
      <p:sp>
        <p:nvSpPr>
          <p:cNvPr id="408" name="Rounded Rectangle 407"/>
          <p:cNvSpPr/>
          <p:nvPr/>
        </p:nvSpPr>
        <p:spPr>
          <a:xfrm>
            <a:off x="6089904" y="1874519"/>
            <a:ext cx="2871216" cy="149961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9" name="TextBox 408"/>
          <p:cNvSpPr txBox="1"/>
          <p:nvPr/>
        </p:nvSpPr>
        <p:spPr>
          <a:xfrm>
            <a:off x="6245352" y="2002536"/>
            <a:ext cx="2560320" cy="22860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180"/>
              </a:lnSpc>
              <a:spcBef>
                <a:spcPts val="0"/>
              </a:spcBef>
              <a:spcAft>
                <a:spcPts val="0"/>
              </a:spcAft>
              <a:defRPr sz="1000">
                <a:solidFill>
                  <a:srgbClr val="FF0032"/>
                </a:solidFill>
                <a:latin typeface="MTS Text"/>
              </a:defRPr>
            </a:pPr>
            <a:r>
              <a:t>ДЕЛЕНИЕ МОЩНОСТИ</a:t>
            </a:r>
          </a:p>
        </p:txBody>
      </p:sp>
      <p:sp>
        <p:nvSpPr>
          <p:cNvPr id="410" name="TextBox 409"/>
          <p:cNvSpPr txBox="1"/>
          <p:nvPr/>
        </p:nvSpPr>
        <p:spPr>
          <a:xfrm>
            <a:off x="6245352" y="2350008"/>
            <a:ext cx="2560320" cy="384048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2360"/>
              </a:lnSpc>
              <a:spcBef>
                <a:spcPts val="0"/>
              </a:spcBef>
              <a:spcAft>
                <a:spcPts val="0"/>
              </a:spcAft>
              <a:defRPr sz="2000">
                <a:solidFill>
                  <a:srgbClr val="414141"/>
                </a:solidFill>
                <a:latin typeface="MTS Wide Medium"/>
              </a:defRPr>
            </a:pPr>
            <a:r>
              <a:t>2 + 2 + 4</a:t>
            </a:r>
          </a:p>
        </p:txBody>
      </p:sp>
      <p:sp>
        <p:nvSpPr>
          <p:cNvPr id="411" name="TextBox 410"/>
          <p:cNvSpPr txBox="1"/>
          <p:nvPr/>
        </p:nvSpPr>
        <p:spPr>
          <a:xfrm>
            <a:off x="6245352" y="2807208"/>
            <a:ext cx="2560320" cy="493775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Доли 1/4, 1/8 и 1/16</a:t>
            </a:r>
          </a:p>
          <a:p>
            <a:pPr algn="l">
              <a:lnSpc>
                <a:spcPts val="1321"/>
              </a:lnSpc>
              <a:spcBef>
                <a:spcPts val="0"/>
              </a:spcBef>
              <a:spcAft>
                <a:spcPts val="0"/>
              </a:spcAft>
              <a:defRPr sz="1120">
                <a:solidFill>
                  <a:srgbClr val="414141"/>
                </a:solidFill>
                <a:latin typeface="MTS Text"/>
              </a:defRPr>
            </a:pPr>
            <a:r>
              <a:t>в каждой группе</a:t>
            </a:r>
          </a:p>
        </p:txBody>
      </p:sp>
      <p:sp>
        <p:nvSpPr>
          <p:cNvPr id="412" name="Rounded Rectangle 411"/>
          <p:cNvSpPr/>
          <p:nvPr/>
        </p:nvSpPr>
        <p:spPr>
          <a:xfrm>
            <a:off x="182880" y="3575304"/>
            <a:ext cx="8778240" cy="117043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3" name="TextBox 412"/>
          <p:cNvSpPr txBox="1"/>
          <p:nvPr/>
        </p:nvSpPr>
        <p:spPr>
          <a:xfrm>
            <a:off x="384048" y="3739896"/>
            <a:ext cx="8366760" cy="301752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2005"/>
              </a:lnSpc>
              <a:spcBef>
                <a:spcPts val="0"/>
              </a:spcBef>
              <a:spcAft>
                <a:spcPts val="0"/>
              </a:spcAft>
              <a:defRPr sz="1700">
                <a:solidFill>
                  <a:srgbClr val="414141"/>
                </a:solidFill>
                <a:latin typeface="MTS Wide Medium"/>
              </a:defRPr>
            </a:pPr>
            <a:r>
              <a:t>Ёмкость → архитектура → RF-бюджет → покрытие → спецификация</a:t>
            </a:r>
          </a:p>
        </p:txBody>
      </p:sp>
      <p:sp>
        <p:nvSpPr>
          <p:cNvPr id="414" name="TextBox 413"/>
          <p:cNvSpPr txBox="1"/>
          <p:nvPr/>
        </p:nvSpPr>
        <p:spPr>
          <a:xfrm>
            <a:off x="384048" y="4242816"/>
            <a:ext cx="8366760" cy="365760"/>
          </a:xfrm>
          <a:prstGeom prst="rect">
            <a:avLst/>
          </a:prstGeom>
          <a:noFill/>
        </p:spPr>
        <p:txBody>
          <a:bodyPr wrap="none" lIns="0" rIns="0" tIns="0" bIns="0">
            <a:noAutofit/>
          </a:bodyPr>
          <a:lstStyle/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SINR, RSRQ и C/I рассчитаны при явных параметрах помех и EPRE. UL и параметры поставки</a:t>
            </a:r>
          </a:p>
          <a:p>
            <a:pPr algn="l">
              <a:lnSpc>
                <a:spcPts val="1297"/>
              </a:lnSpc>
              <a:spcBef>
                <a:spcPts val="0"/>
              </a:spcBef>
              <a:spcAft>
                <a:spcPts val="0"/>
              </a:spcAft>
              <a:defRPr sz="1100">
                <a:solidFill>
                  <a:srgbClr val="414141"/>
                </a:solidFill>
                <a:latin typeface="MTS Text"/>
              </a:defRPr>
            </a:pPr>
            <a:r>
              <a:t>проверяются отдельно; управляемые удалённые модули в состав пассивной сети не входят.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4285F4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463</TotalTime>
  <Words>448</Words>
  <Application>Microsoft Macintosh PowerPoint</Application>
  <PresentationFormat>Экран (16:9)</PresentationFormat>
  <Paragraphs>215</Paragraphs>
  <Slides>8</Slides>
  <Notes>8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8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8</vt:i4>
      </vt:variant>
    </vt:vector>
  </HeadingPairs>
  <TitlesOfParts>
    <vt:vector size="17" baseType="lpstr">
      <vt:lpstr>Calibri</vt:lpstr>
      <vt:lpstr>Inter Medium</vt:lpstr>
      <vt:lpstr>MTS Wide</vt:lpstr>
      <vt:lpstr>MTS Text</vt:lpstr>
      <vt:lpstr>MTS Wide Medium</vt:lpstr>
      <vt:lpstr>MTS Text Medium</vt:lpstr>
      <vt:lpstr>Inter</vt:lpstr>
      <vt:lpstr>Arial</vt:lpstr>
      <vt:lpstr>Simple Light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cp:lastModifiedBy>Xenia Obukh</cp:lastModifiedBy>
  <cp:revision>4</cp:revision>
  <dcterms:modified xsi:type="dcterms:W3CDTF">2026-10-12T19:45:42Z</dcterms:modified>
  <dc:title>Радиосеть первого этажа ТРК «Эльбрус»</dc:title>
  <dc:creator>Павел Абалаков</dc:creator>
  <dc:subject>МТС Engineer Hack 2026 · Радио</dc:subject>
  <dc:description/>
</cp:coreProperties>
</file>