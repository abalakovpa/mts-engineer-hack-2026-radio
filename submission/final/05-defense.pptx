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8" r:id="rId2"/>
    <p:sldId id="261" r:id="rId3"/>
    <p:sldId id="263" r:id="rId4"/>
    <p:sldId id="266" r:id="rId5"/>
    <p:sldId id="269" r:id="rId6"/>
    <p:sldId id="270" r:id="rId7"/>
  </p:sldIdLst>
  <p:sldSz cx="9144000" cy="5143500" type="screen16x9"/>
  <p:notesSz cx="6858000" cy="9144000"/>
  <p:embeddedFontLst>
    <p:embeddedFont>
      <p:font typeface="Inter" panose="02000503000000020004" pitchFamily="2" charset="0"/>
      <p:regular r:id="rId11"/>
      <p:bold r:id="rId12"/>
      <p:italic r:id="rId13"/>
      <p:boldItalic r:id="rId14"/>
    </p:embeddedFont>
    <p:embeddedFont>
      <p:font typeface="Inter Medium" panose="02000503000000020004" pitchFamily="2" charset="0"/>
      <p:regular r:id="rId15"/>
      <p:bold r:id="rId16"/>
      <p:italic r:id="rId17"/>
      <p:boldItalic r:id="rId18"/>
    </p:embeddedFont>
    <p:embeddedFont>
      <p:font typeface="MTS Text" panose="020B0306020102020303" pitchFamily="34" charset="0"/>
      <p:regular r:id="rId19"/>
      <p:bold r:id="rId20"/>
    </p:embeddedFont>
    <p:embeddedFont>
      <p:font typeface="MTS Text Medium" panose="020B0306020102020303" pitchFamily="34" charset="0"/>
      <p:regular r:id="rId21"/>
    </p:embeddedFont>
    <p:embeddedFont>
      <p:font typeface="MTS Wide" panose="020B0306020102020303" pitchFamily="34" charset="0"/>
      <p:regular r:id="rId22"/>
      <p:bold r:id="rId23"/>
    </p:embeddedFont>
    <p:embeddedFont>
      <p:font typeface="MTS Wide Medium" panose="020B0306020102020303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" userDrawn="1">
          <p15:clr>
            <a:srgbClr val="747775"/>
          </p15:clr>
        </p15:guide>
        <p15:guide id="2" pos="113">
          <p15:clr>
            <a:srgbClr val="747775"/>
          </p15:clr>
        </p15:guide>
        <p15:guide id="3" orient="horz" pos="3127">
          <p15:clr>
            <a:srgbClr val="747775"/>
          </p15:clr>
        </p15:guide>
        <p15:guide id="4" pos="5647">
          <p15:clr>
            <a:srgbClr val="747775"/>
          </p15:clr>
        </p15:guide>
        <p15:guide id="5" pos="2880">
          <p15:clr>
            <a:srgbClr val="747775"/>
          </p15:clr>
        </p15:guide>
        <p15:guide id="6" pos="2852">
          <p15:clr>
            <a:srgbClr val="747775"/>
          </p15:clr>
        </p15:guide>
        <p15:guide id="7" pos="2908">
          <p15:clr>
            <a:srgbClr val="747775"/>
          </p15:clr>
        </p15:guide>
        <p15:guide id="8" orient="horz" pos="1251">
          <p15:clr>
            <a:srgbClr val="747775"/>
          </p15:clr>
        </p15:guide>
        <p15:guide id="9" pos="2014">
          <p15:clr>
            <a:srgbClr val="747775"/>
          </p15:clr>
        </p15:guide>
        <p15:guide id="10" pos="3903">
          <p15:clr>
            <a:srgbClr val="747775"/>
          </p15:clr>
        </p15:guide>
        <p15:guide id="11" orient="horz" pos="1009">
          <p15:clr>
            <a:srgbClr val="747775"/>
          </p15:clr>
        </p15:guide>
        <p15:guide id="13" orient="horz" pos="45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8B8B5D-C623-46D9-ADCC-D26623CE91F4}">
  <a:tblStyle styleId="{408B8B5D-C623-46D9-ADCC-D26623CE91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48"/>
  </p:normalViewPr>
  <p:slideViewPr>
    <p:cSldViewPr snapToGrid="0">
      <p:cViewPr varScale="1">
        <p:scale>
          <a:sx n="156" d="100"/>
          <a:sy n="156" d="100"/>
        </p:scale>
        <p:origin x="544" y="168"/>
      </p:cViewPr>
      <p:guideLst>
        <p:guide orient="horz" pos="100"/>
        <p:guide pos="113"/>
        <p:guide orient="horz" pos="3127"/>
        <p:guide pos="5647"/>
        <p:guide pos="2880"/>
        <p:guide pos="2852"/>
        <p:guide pos="2908"/>
        <p:guide orient="horz" pos="1251"/>
        <p:guide pos="2014"/>
        <p:guide pos="3903"/>
        <p:guide orient="horz" pos="1009"/>
        <p:guide orient="horz" pos="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ы с цифрами 14">
  <p:cSld name="Слайды с цифрами 1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4616258" y="1032122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7861" y="431253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577384" y="1447178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4622373" y="2989065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3"/>
          </p:nvPr>
        </p:nvSpPr>
        <p:spPr>
          <a:xfrm>
            <a:off x="724220" y="2383605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4"/>
          </p:nvPr>
        </p:nvSpPr>
        <p:spPr>
          <a:xfrm>
            <a:off x="573742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408182" y="1036713"/>
            <a:ext cx="4048800" cy="3809700"/>
          </a:xfrm>
          <a:prstGeom prst="roundRect">
            <a:avLst>
              <a:gd name="adj" fmla="val 3606"/>
            </a:avLst>
          </a:prstGeom>
          <a:solidFill>
            <a:srgbClr val="0062D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5"/>
          </p:nvPr>
        </p:nvSpPr>
        <p:spPr>
          <a:xfrm>
            <a:off x="4712849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6"/>
          </p:nvPr>
        </p:nvSpPr>
        <p:spPr>
          <a:xfrm>
            <a:off x="4863326" y="1115761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15210" y="476523"/>
            <a:ext cx="964146" cy="1028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012" scaled="0"/>
        </a:gra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Заголовок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00" y="180000"/>
            <a:ext cx="3035926" cy="1260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9600" y="0"/>
            <a:ext cx="904399" cy="90439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1 / 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00" y="1627632"/>
            <a:ext cx="6080760" cy="10058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Радиосеть первого этажа</a:t>
            </a:r>
          </a:p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ТРК «Эльбрус»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8600" y="2798064"/>
            <a:ext cx="4160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2880360"/>
            <a:ext cx="388620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FF0032"/>
                </a:solidFill>
                <a:latin typeface="MTS Wide Medium"/>
              </a:defRPr>
            </a:pPr>
            <a:r>
              <a:t>Павел Абалаков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447288"/>
            <a:ext cx="5806440" cy="777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УрТИСИ · III курс · 11.03.02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Инфокоммуникационные технологии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 системы связи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" y="4315968"/>
            <a:ext cx="5760720" cy="5760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II место на Всероссийском хакатоне связи (2025)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Архитектура, задачи и коммуникация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Интересы: product management и управление проектами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46520" y="1508760"/>
            <a:ext cx="2377440" cy="3154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988819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ounded Rectangle 15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Новые доли RRC и buffer: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13 пользователей вместо 288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2 / 6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82880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38328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ОДНОВРЕМЕННАЯ НАГРУЗКА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8328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13 UE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8328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 + 4 + 3 по несущим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36392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40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ПОЛЕЗНЫЙ DOWNLINK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91840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104 Мбит/с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91840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устройств по 8 Мбит/с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89904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45352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ОБЩАЯ ЁМКОСТЬ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45352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45352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Три несущие B3 / B1 / B7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2880" y="3383280"/>
            <a:ext cx="470916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5029200" y="3383280"/>
            <a:ext cx="3931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7472" y="3566160"/>
            <a:ext cx="4389120" cy="3474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defRPr sz="1600">
                <a:solidFill>
                  <a:srgbClr val="414141"/>
                </a:solidFill>
                <a:latin typeface="MTS Wide Medium"/>
              </a:defRPr>
            </a:pPr>
            <a:r>
              <a:t>360 × 35% × 10% = 12,6 → 13 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47472" y="4069080"/>
            <a:ext cx="4389120" cy="52120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Секторы: 25 → 2 (k=1,10) → 1 (k(1)=1)</a:t>
            </a:r>
          </a:p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η=3,1505922; u=0,8.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3557016"/>
            <a:ext cx="356616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Полезная ёмкость трёх несущих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2080" y="38770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B3 · 20 МГц · 50,41 Мбит/с · 6 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2080" y="41056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B1 · 15 МГц · 37,81 Мбит/с · 4 UE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212080" y="43342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B7 · 10 МГц · 25,20 Мбит/с · 3 UE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Без CA резерв для 14-го UE отсутствует; прежнее правило k=1,10 даёт два сектора.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Rounded Rectangle 189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Один LTE-пул — четыре группы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и два независимых RF-дерева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3 / 6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6" name="Picture 205" descr="final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970" y="1901952"/>
            <a:ext cx="1600499" cy="2624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384048" y="4572000"/>
            <a:ext cx="2743200" cy="1737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66666"/>
                </a:solidFill>
                <a:latin typeface="MTS Text"/>
              </a:defRPr>
            </a:pPr>
            <a:r>
              <a:t>План первого этажа · 32 In06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1956816"/>
            <a:ext cx="5120640" cy="3017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На каждой MIMO-ветви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57600" y="2414016"/>
            <a:ext cx="5120640" cy="320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rgbClr val="414141"/>
                </a:solidFill>
                <a:latin typeface="MTS Text"/>
              </a:defRPr>
            </a:pPr>
            <a:r>
              <a:t>PC221 ×3 → PC211 ×4 → группы Z1–Z4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3657600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0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Z1: 8 In06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974336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974336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Z2: 8 In06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6291071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291071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Z3: 8 In06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607808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607808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Z4: 8 In06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57600" y="3639312"/>
            <a:ext cx="5120640" cy="3017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defRPr sz="1280">
                <a:solidFill>
                  <a:srgbClr val="414141"/>
                </a:solidFill>
                <a:latin typeface="MTS Text"/>
              </a:defRPr>
            </a:pPr>
            <a:r>
              <a:t>В группе: 2 напрямую + 2 через PC250 + 4 через PC252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57600" y="4197096"/>
            <a:ext cx="5120640" cy="3291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Доли мощности: 1/4 · 1/8 · 1/16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M1 и M2 подключены к разным портам антенн.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Головной узел — проектная зона 104.2. Высоты антенны / UE: 7 / 1,5 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5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Rounded Rectangle 268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RSRP и качество DL: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результаты условных сценариев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4 / 6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" name="Picture 284" descr="rsrp-2600-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00" y="1911095"/>
            <a:ext cx="1873038" cy="2670048"/>
          </a:xfrm>
          <a:prstGeom prst="rect">
            <a:avLst/>
          </a:prstGeom>
        </p:spPr>
      </p:pic>
      <p:sp>
        <p:nvSpPr>
          <p:cNvPr id="286" name="TextBox 285"/>
          <p:cNvSpPr txBox="1"/>
          <p:nvPr/>
        </p:nvSpPr>
        <p:spPr>
          <a:xfrm>
            <a:off x="365760" y="4581144"/>
            <a:ext cx="2788920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1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66666"/>
                </a:solidFill>
                <a:latin typeface="MTS Text"/>
              </a:defRPr>
            </a:pPr>
            <a:r>
              <a:t>B7 · n=3 · карта с шагом 0,25 м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657600" y="1947672"/>
            <a:ext cx="512064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Wide Medium"/>
              </a:defRPr>
            </a:pPr>
            <a:r>
              <a:t>RSRP &gt; −90 дБм · доля от 2100 м²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657600" y="2441448"/>
            <a:ext cx="219456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Расчётный режим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9893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9037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863840" y="2441448"/>
            <a:ext cx="822960" cy="210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B7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657600" y="2770632"/>
            <a:ext cx="228600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893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96,48%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9037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96,45%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86384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96,37%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657600" y="3044951"/>
            <a:ext cx="228600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n=3, закрытые проёмы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893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96,12%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9037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96,02%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86384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95,85%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57600" y="3319272"/>
            <a:ext cx="228600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FF0032"/>
                </a:solidFill>
                <a:latin typeface="MTS Text"/>
              </a:defRPr>
            </a:pPr>
            <a:r>
              <a:t>P2: 23 дБм на несущую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893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94,49%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9037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93,52%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6384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91,68%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657600" y="3703320"/>
            <a:ext cx="50749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L2 / B7: SINR ≥17 — 96,75%</a:t>
            </a:r>
          </a:p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RSRQ &gt;−12 — 97,59%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0" y="4279392"/>
            <a:ext cx="50749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8"/>
              </a:lnSpc>
              <a:spcBef>
                <a:spcPts val="0"/>
              </a:spcBef>
              <a:spcAft>
                <a:spcPts val="0"/>
              </a:spcAft>
              <a:defRPr sz="1050">
                <a:solidFill>
                  <a:srgbClr val="414141"/>
                </a:solidFill>
                <a:latin typeface="MTS Text"/>
              </a:defRPr>
            </a:pPr>
            <a:r>
              <a:t>DCS: C/I &gt;20 — 96,53% при I=−70 дБм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38"/>
              </a:lnSpc>
              <a:spcBef>
                <a:spcPts val="0"/>
              </a:spcBef>
              <a:spcAft>
                <a:spcPts val="0"/>
              </a:spcAft>
              <a:defRPr sz="880">
                <a:solidFill>
                  <a:srgbClr val="666666"/>
                </a:solidFill>
                <a:latin typeface="MTS Text"/>
              </a:defRPr>
            </a:pPr>
            <a:r>
              <a:t>L2: P1, n=2,5; NF=7 дБ, β=0,5, ρ=0,8; I=−115 дБм/15 кГц. DCS: I в полосе 200 кГц.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8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Rounded Rectangle 34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Оборудование и трассы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следуют одной схеме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5 / 6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82880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338328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АНТЕННЫ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38328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In06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8328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Два RF-порта на антенну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64 антенных порта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3136392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291840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ГОЛОВНОЙ УЗЕЛ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91840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6 PC221 · 8 PC211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3291840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Объединение операторов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диапазонов B3 / B1 / B7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6089904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245352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РАСПРЕДЕЛИТЕЛИ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5352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9 PC250 · 16 PC252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5352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Парные и четверные группы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Схема распределения 2+2+4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182880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338328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КОАКСИАЛ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338328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1404 м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38328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 резервом: 1366 м 7/8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179 м 1/2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3136392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291840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СОЕДИНЕНИЯ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3291840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168 разъёмов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3291840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7/8 — 100 шт.; 1/2 — 68 шт.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Исполнения male / female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6089904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245352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ДЖАМПЕРЫ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5352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113 × 3 м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245352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101 рабочий + 12 резервных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Включая четыре местных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Условия комплектации: нагрузки 50 Ом, интерфейсы RF-портов и пожарное исполнение кабелей.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9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Rounded Rectangle 385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96" name="Rounded Rectangle 395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Три решения, которые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определяют результат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6 / 6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82880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338328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МОДЕЛЬ СПРОСА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338328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338328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пользователей с данными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104 Мбит/с полезного DL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3136392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291840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РАЗМЕЩЕНИЕ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3291840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антенны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3291840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B7 при n=3: 96,37%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Две независимые MIMO-ветви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6089904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245352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ДЕЛЕНИЕ МОЩНОСТИ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245352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2 + 2 + 4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6245352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Доли 1/4, 1/8 и 1/16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 каждой группе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182880" y="3575304"/>
            <a:ext cx="8778240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384048" y="3739896"/>
            <a:ext cx="8366760" cy="3017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Ёмкость → архитектура → RF-бюджет → покрытие → спецификация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84048" y="4242816"/>
            <a:ext cx="836676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SINR, RSRQ и C/I рассчитаны при явных параметрах помех и EPRE. UL и параметры поставки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проверяются отдельно; управляемые удалённые модули в состав пассивной сети не входят.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448</Words>
  <Application>Microsoft Macintosh PowerPoint</Application>
  <PresentationFormat>Экран (16:9)</PresentationFormat>
  <Paragraphs>215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7" baseType="lpstr">
      <vt:lpstr>Calibri</vt:lpstr>
      <vt:lpstr>Inter Medium</vt:lpstr>
      <vt:lpstr>MTS Wide</vt:lpstr>
      <vt:lpstr>MTS Text</vt:lpstr>
      <vt:lpstr>MTS Wide Medium</vt:lpstr>
      <vt:lpstr>MTS Text Medium</vt:lpstr>
      <vt:lpstr>Inter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Xenia Obukh</cp:lastModifiedBy>
  <cp:revision>4</cp:revision>
  <dcterms:modified xsi:type="dcterms:W3CDTF">2026-10-12T19:45:42Z</dcterms:modified>
  <dc:title>Радиосеть первого этажа ТРК «Эльбрус»</dc:title>
  <dc:creator>Павел Абалаков</dc:creator>
  <dc:subject>МТС Engineer Hack 2026 · Радио</dc:subject>
  <dc:description/>
</cp:coreProperties>
</file>