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Меня зовут Павел Абалаков. Я студент третьего курса УрТИСИ, изучаю инфокоммуникационные технологии и системы связи. В командах Payment OCR и Magistral Dispatcher MAX выступал как product manager: распределял задачи и выстраивал коммуникацию. В Payment OCR также отвечал за архитектуру. Развиваюсь в product management и управлении проектами.</a:t>
            </a:r>
          </a:p>
          <a:p/>
          <a:p>
            <a:r>
              <a:t>Проекты:</a:t>
            </a:r>
          </a:p>
          <a:p>
            <a:r>
              <a:t>Svyaz Hack Payment OCR: https://github.com/abalakovpa/svyaz-hack-payment-ocr</a:t>
            </a:r>
          </a:p>
          <a:p>
            <a:r>
              <a:t>Magistral Dispatcher MAX: https://github.com/EEGRINO/magistral-dispatcher-max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онлайн-этапе я считал 80 процентов прогнозных пользователей одновременно активными: это 288 пользователей и 2304 мегабита в секунду. Новые вводные разделяют состояние RRC Connected и наличие данных в буфере. Из 360 прогнозных пользователей получаются 126 RRC-подключений и 12,6 буферных пользователей. Округляю вверх до 13: спрос составляет 104 мегабита в секунду. Три несущие без агрегации обслуживают шесть, четыре и три пользователя. Выбираю один общий пул. Коэффициент пространственного перекоса внутри него равен единице; при сохранении прежнего правила получились бы два сектора. Запаса на четырнадцатого пользователя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План построен по предоставленному DWG в исходном масштабе. Выбраны 32 двухпортовые In06 и четыре распределительные группы; их покрытие проверено расчётом. Это один LTE-пул на каждом диапазоне, а не четыре независимые ячейки. Две MIMO-ветви проходят отдельно до двух портов каждой антенны. На каждой ветви гибриды объединяют операторов, триплексеры — диапазоны. В зоне две антенны подключены напрямую к PC252, две через PC250 и четыре через второй PC252. Доли мощности — четверть, восьмая и шестнадцатая. Это перераспределение при сохранении суммарной мощности. Существующая ВК не найдена: размещение головного узла в части 104.2 является моим проектным допущением. Помещение 89 не локализовано. Его площадь полностью учитывается как непокрытая. Исправлена геометрия четырёх спорных групп; неопределённость 114.2 сохранена.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Рассчитаны 384 сочетания антенны, диапазона и расстояния, а также карта с шагом 25 сантиметров. В модели учитываются кабели, делители, высота и пересечения стен. Пилот 23 дБм условно нормирован на CRS одного порта; определение мощности в задании неоднозначно. На B7 номинальный результат составляет 96.58 процента от заданных 2100 квадратных метров. При показателе затухания n=3 — 96.37 процента. В отдельной проверке дополнительных трёх децибел остаётся 96.51 процента. При закрытых проёмах, исключении спорного контура и ещё трёх децибелах — 96.32 процента. Запас достигнут в модели. Худший отдельный путь на 20 метрах даёт -95.64 дБм; площадь оценивается по всем антеннам. Это сценарный прогноз, а не измерения. RSRP не подтверждает SINR, RSRQ или скорость. Для DCS отдельно проверены условные мощности BCCH, но не внешний C/I.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Спецификация формируется из той же структуры, что схемы и трассы. В ней только позиции предоставленного перечня. Учтены 32 антенны, шесть гибридов, восемь триплексеров, девять двухвыходных и шестнадцать четырёхвыходных делителей. Кабель с резервом: 1366 метров семь восьмых и 179 метров одна вторая. Установленный метраж коаксиала двух ветвей составляет 1404 метра. Всего 113 джамперов, включая 12 резервных входных и 4 местных. Для свободных портов нужны нагрузки, отсутствующие в перечне; пожарная модификация и исполнения разъёмов также не подтверждены.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главных решения — общий пул с новой моделью спроса, восстановление контуров и неравномерное распределение мощности. Две MIMO-ветви сохранены. Числа согласованы и воспроизводимы. Номинальная модель и отдельные проверки n=3 и запаса три децибела проходят; другое определение пилота P2 не проходит. Полное соответствие заданию не доказано: помеховые показатели неизвестны, пассивная схема не обеспечивает требуемое удалённое регулирование, часть комплектации не подтверждена. Эти ограничения отражены в документах, а не скрыты за проходящим номинальным результатом.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99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324D"/>
                </a:solidFill>
                <a:latin typeface="DejaVu Sans"/>
              </a:defRPr>
            </a:pPr>
            <a:r>
              <a:t>Павел Абалаков · Indoor Radio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778"/>
                </a:solidFill>
                <a:latin typeface="DejaVu Sans"/>
              </a:defRPr>
            </a:pPr>
            <a:r>
              <a:t>МТС Engineer Hack 2026 · Радио · Расчётный вариант · 13.10.2026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32004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324D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64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324D"/>
                </a:solidFill>
                <a:latin typeface="DejaVu Sans"/>
              </a:defRPr>
            </a:pPr>
            <a:r>
              <a:t>УрТИСИ · III курс · 11.03.02 · Инфокоммуникационные</a:t>
            </a:r>
          </a:p>
          <a:p>
            <a:pPr>
              <a:lnSpc>
                <a:spcPts val="264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324D"/>
                </a:solidFill>
                <a:latin typeface="DejaVu Sans"/>
              </a:defRPr>
            </a:pPr>
            <a:r>
              <a:t>технологии и системы связи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23160"/>
            <a:ext cx="10789920" cy="7315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7324D"/>
                </a:solidFill>
                <a:latin typeface="DejaVu Sans"/>
              </a:defRPr>
            </a:pPr>
            <a:r>
              <a:t>II место — хакатон связи,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83280"/>
            <a:ext cx="10789920" cy="640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645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7324D"/>
                </a:solidFill>
                <a:latin typeface="DejaVu Sans"/>
              </a:defRPr>
            </a:pPr>
            <a:r>
              <a:t>Проекты: Payment OCR · Magistral Dispatcher MAX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206240"/>
            <a:ext cx="11064240" cy="192024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89120"/>
            <a:ext cx="10515600" cy="1554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324D"/>
                </a:solidFill>
                <a:latin typeface="DejaVu Sans"/>
              </a:defRPr>
            </a:pPr>
            <a:r>
              <a:t>Роль: Студент; product manager в проектных командах</a:t>
            </a:r>
          </a:p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324D"/>
                </a:solidFill>
                <a:latin typeface="DejaVu Sans"/>
              </a:defRPr>
            </a:pPr>
            <a:r>
              <a:t>Вклад: Payment OCR: архитектура; оба проекта: задачи и командная коммуникация</a:t>
            </a:r>
          </a:p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324D"/>
                </a:solidFill>
                <a:latin typeface="DejaVu Sans"/>
              </a:defRPr>
            </a:pPr>
            <a:r>
              <a:t>Интересы: Product management, управление проектами и командная коммуникация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99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324D"/>
                </a:solidFill>
                <a:latin typeface="DejaVu Sans"/>
              </a:defRPr>
            </a:pPr>
            <a:r>
              <a:t>Новые вводные: 288 → 13 пользователей с данными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778"/>
                </a:solidFill>
                <a:latin typeface="DejaVu Sans"/>
              </a:defRPr>
            </a:pPr>
            <a:r>
              <a:t>МТС Engineer Hack 2026 · Радио · Расчётный вариант · 13.10.2026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32004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324D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972800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104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24D"/>
                </a:solidFill>
                <a:latin typeface="DejaVu Sans"/>
              </a:defRPr>
            </a:pPr>
            <a:r>
              <a:t>360 × 35% RRC × 10% buffer = 12,6 → 13 UE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14600"/>
            <a:ext cx="5303520" cy="118872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2514600"/>
            <a:ext cx="5303520" cy="118872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484632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874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324D"/>
                </a:solidFill>
                <a:latin typeface="DejaVu Sans"/>
              </a:defRPr>
            </a:pPr>
            <a:r>
              <a:t>104 Мбит/с вместо 2304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43200"/>
            <a:ext cx="484632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874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324D"/>
                </a:solidFill>
                <a:latin typeface="DejaVu Sans"/>
              </a:defRPr>
            </a:pPr>
            <a:r>
              <a:t>6 + 4 + 3 UE без 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06240"/>
            <a:ext cx="1097280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874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324D"/>
                </a:solidFill>
                <a:latin typeface="DejaVu Sans"/>
              </a:defRPr>
            </a:pPr>
            <a:r>
              <a:t>Один общий пул B3/B1/B7: k(1)=1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166360"/>
            <a:ext cx="10972800" cy="868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7324D"/>
                </a:solidFill>
                <a:latin typeface="DejaVu Sans"/>
              </a:defRPr>
            </a:pPr>
            <a:r>
              <a:t>Прежнее правило k=1,10 → 2 сектора.</a:t>
            </a:r>
          </a:p>
          <a:p>
            <a:pPr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7324D"/>
                </a:solidFill>
                <a:latin typeface="DejaVu Sans"/>
              </a:defRPr>
            </a:pPr>
            <a:r>
              <a:t>Запаса на 14-го UE без CA нет.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99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324D"/>
                </a:solidFill>
                <a:latin typeface="DejaVu Sans"/>
              </a:defRPr>
            </a:pPr>
            <a:r>
              <a:t>32 антенны · 4 группы · 2 независимые MIMO-ветви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778"/>
                </a:solidFill>
                <a:latin typeface="DejaVu Sans"/>
              </a:defRPr>
            </a:pPr>
            <a:r>
              <a:t>МТС Engineer Hack 2026 · Радио · Расчётный вариант · 13.10.2026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32004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324D"/>
                </a:solidFill>
                <a:latin typeface="DejaVu Sans"/>
              </a:defRPr>
            </a:pPr>
            <a:r>
              <a:t>3</a:t>
            </a:r>
          </a:p>
        </p:txBody>
      </p:sp>
      <p:pic>
        <p:nvPicPr>
          <p:cNvPr id="7" name="Picture 6" descr="final-lay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976" y="1188720"/>
            <a:ext cx="3122926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63440" y="1463040"/>
            <a:ext cx="6903720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324D"/>
                </a:solidFill>
                <a:latin typeface="DejaVu Sans"/>
              </a:defRPr>
            </a:pPr>
            <a:r>
              <a:t>Z1–Z4 — распределение одного пула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560320"/>
            <a:ext cx="6903720" cy="1325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324D"/>
                </a:solidFill>
                <a:latin typeface="DejaVu Sans"/>
              </a:defRPr>
            </a:pPr>
            <a:r>
              <a:t>PC221 → PC211 → PC252</a:t>
            </a:r>
          </a:p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324D"/>
                </a:solidFill>
                <a:latin typeface="DejaVu Sans"/>
              </a:defRPr>
            </a:pPr>
            <a:r>
              <a:t>В зоне: 2 напрямую + 2 через PC250 + 4 через</a:t>
            </a:r>
          </a:p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324D"/>
                </a:solidFill>
                <a:latin typeface="DejaVu Sans"/>
              </a:defRPr>
            </a:pPr>
            <a:r>
              <a:t>PC252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977639"/>
            <a:ext cx="6903720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7324D"/>
                </a:solidFill>
                <a:latin typeface="DejaVu Sans"/>
              </a:defRPr>
            </a:pPr>
            <a:r>
              <a:t>ВК в части 104.2 — проектное допущение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5120640"/>
            <a:ext cx="6903720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324D"/>
                </a:solidFill>
                <a:latin typeface="DejaVu Sans"/>
              </a:defRPr>
            </a:pPr>
            <a:r>
              <a:t>Помещение 89 считается непокрытым.</a:t>
            </a:r>
          </a:p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324D"/>
                </a:solidFill>
                <a:latin typeface="DejaVu Sans"/>
              </a:defRPr>
            </a:pPr>
            <a:r>
              <a:t>Коаксиал двух ветвей: 1404 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99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324D"/>
                </a:solidFill>
                <a:latin typeface="DejaVu Sans"/>
              </a:defRPr>
            </a:pPr>
            <a:r>
              <a:t>RSRP: n=3 и запас 3 дБ проверены в модели P1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778"/>
                </a:solidFill>
                <a:latin typeface="DejaVu Sans"/>
              </a:defRPr>
            </a:pPr>
            <a:r>
              <a:t>МТС Engineer Hack 2026 · Радио · Расчётный вариант · 13.10.2026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32004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324D"/>
                </a:solidFill>
                <a:latin typeface="DejaVu Sans"/>
              </a:defRPr>
            </a:pPr>
            <a:r>
              <a:t>4</a:t>
            </a:r>
          </a:p>
        </p:txBody>
      </p:sp>
      <p:pic>
        <p:nvPicPr>
          <p:cNvPr id="7" name="Picture 6" descr="rsrp-2600-n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39" y="1143000"/>
            <a:ext cx="3624201" cy="5166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63440" y="1371600"/>
            <a:ext cx="6949440" cy="7315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34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324D"/>
                </a:solidFill>
                <a:latin typeface="DejaVu Sans"/>
              </a:defRPr>
            </a:pPr>
            <a:r>
              <a:t>B7 при n=3: 96.37%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377440"/>
            <a:ext cx="6949440" cy="7315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99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27958"/>
                </a:solidFill>
                <a:latin typeface="DejaVu Sans"/>
              </a:defRPr>
            </a:pPr>
            <a:r>
              <a:t>+3 дБ RF-потерь → 96.51%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474720"/>
            <a:ext cx="6949440" cy="1005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324D"/>
                </a:solidFill>
                <a:latin typeface="DejaVu Sans"/>
              </a:defRPr>
            </a:pPr>
            <a:r>
              <a:t>Проёмы / спорный контур / +3 дБ: 96.32%</a:t>
            </a:r>
          </a:p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324D"/>
                </a:solidFill>
                <a:latin typeface="DejaVu Sans"/>
              </a:defRPr>
            </a:pPr>
            <a:r>
              <a:t>39 сценариев; 35522 ячейки карты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663440"/>
            <a:ext cx="6949440" cy="10972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324D"/>
                </a:solidFill>
                <a:latin typeface="DejaVu Sans"/>
              </a:defRPr>
            </a:pPr>
            <a:r>
              <a:t>P1: 23 дБм — условная сумма CRS на порту.</a:t>
            </a:r>
          </a:p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324D"/>
                </a:solidFill>
                <a:latin typeface="DejaVu Sans"/>
              </a:defRPr>
            </a:pPr>
            <a:r>
              <a:t>SINR / RSRQ и фактические KPI не подтверждены.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99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324D"/>
                </a:solidFill>
                <a:latin typeface="DejaVu Sans"/>
              </a:defRPr>
            </a:pPr>
            <a:r>
              <a:t>Спецификация связана со схемами и трассами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778"/>
                </a:solidFill>
                <a:latin typeface="DejaVu Sans"/>
              </a:defRPr>
            </a:pPr>
            <a:r>
              <a:t>МТС Engineer Hack 2026 · Радио · Расчётный вариант · 13.10.2026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32004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324D"/>
                </a:solidFill>
                <a:latin typeface="DejaVu Sans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972800" cy="10972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99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324D"/>
                </a:solidFill>
                <a:latin typeface="DejaVu Sans"/>
              </a:defRPr>
            </a:pPr>
            <a:r>
              <a:t>32 In06 · 6 PC221 · 8 PC211</a:t>
            </a:r>
          </a:p>
          <a:p>
            <a:pPr>
              <a:lnSpc>
                <a:spcPts val="299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324D"/>
                </a:solidFill>
                <a:latin typeface="DejaVu Sans"/>
              </a:defRPr>
            </a:pPr>
            <a:r>
              <a:t>9 PC250 · 16 PC252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10972800" cy="777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874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324D"/>
                </a:solidFill>
                <a:latin typeface="DejaVu Sans"/>
              </a:defRPr>
            </a:pPr>
            <a:r>
              <a:t>Закупочный метраж: 7/8 — 1366 м; 1/2 — 179 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703320"/>
            <a:ext cx="10972800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645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7324D"/>
                </a:solidFill>
                <a:latin typeface="DejaVu Sans"/>
              </a:defRPr>
            </a:pPr>
            <a:r>
              <a:t>113 джамперов: 12 резервных; 4 местных</a:t>
            </a:r>
          </a:p>
          <a:p>
            <a:pPr>
              <a:lnSpc>
                <a:spcPts val="2645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7324D"/>
                </a:solidFill>
                <a:latin typeface="DejaVu Sans"/>
              </a:defRPr>
            </a:pPr>
            <a:r>
              <a:t>Разъёмы: 1/2 — 68; 7/8 —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074920"/>
            <a:ext cx="10972800" cy="868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B22C35"/>
                </a:solidFill>
                <a:latin typeface="DejaVu Sans"/>
              </a:defRPr>
            </a:pPr>
            <a:r>
              <a:t>Открытые вопросы комплектации: нагрузки, пол разъёмов,</a:t>
            </a:r>
          </a:p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B22C35"/>
                </a:solidFill>
                <a:latin typeface="DejaVu Sans"/>
              </a:defRPr>
            </a:pPr>
            <a:r>
              <a:t>интерфейс In06 / БС, пожарное исполнение.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99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324D"/>
                </a:solidFill>
                <a:latin typeface="DejaVu Sans"/>
              </a:defRPr>
            </a:pPr>
            <a:r>
              <a:t>Три решения и пределы доказанного результата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778"/>
                </a:solidFill>
                <a:latin typeface="DejaVu Sans"/>
              </a:defRPr>
            </a:pPr>
            <a:r>
              <a:t>МТС Engineer Hack 2026 · Радио · Расчётный вариант · 13.10.2026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32004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324D"/>
                </a:solidFill>
                <a:latin typeface="DejaVu Sans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972800" cy="1005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324D"/>
                </a:solidFill>
                <a:latin typeface="DejaVu Sans"/>
              </a:defRPr>
            </a:pPr>
            <a:r>
              <a:t>1. Общий пул и последовательные доли RRC / buffer</a:t>
            </a:r>
          </a:p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324D"/>
                </a:solidFill>
                <a:latin typeface="DejaVu Sans"/>
              </a:defRPr>
            </a:pPr>
            <a:r>
              <a:t>2. Проверка контуров по архитектуре</a:t>
            </a:r>
          </a:p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324D"/>
                </a:solidFill>
                <a:latin typeface="DejaVu Sans"/>
              </a:defRPr>
            </a:pPr>
            <a:r>
              <a:t>3. Неравномерное деление мощности; две MIMO-ветви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54680"/>
            <a:ext cx="11064240" cy="2560320"/>
          </a:xfrm>
          <a:prstGeom prst="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10607040" cy="2011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7324D"/>
                </a:solidFill>
                <a:latin typeface="DejaVu Sans"/>
              </a:defRPr>
            </a:pPr>
            <a:r>
              <a:t>P1: n=3 и +3 дБ проходят в отдельных проверках.</a:t>
            </a:r>
          </a:p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7324D"/>
                </a:solidFill>
                <a:latin typeface="DejaVu Sans"/>
              </a:defRPr>
            </a:pPr>
            <a:r>
              <a:t>P2, RSRQ / SINR / C/I / UL остаются ограничениями.</a:t>
            </a:r>
          </a:p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7324D"/>
                </a:solidFill>
                <a:latin typeface="DejaVu Sans"/>
              </a:defRPr>
            </a:pPr>
            <a:r>
              <a:t>Пассивная схема не выполняет удалённую регулировку.</a:t>
            </a:r>
          </a:p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7324D"/>
                </a:solidFill>
                <a:latin typeface="DejaVu Sans"/>
              </a:defRPr>
            </a:pPr>
            <a:r>
              <a:t>Полное соответствие ТЗ не установлено.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